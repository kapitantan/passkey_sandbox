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3"/>
    <p:restoredTop sz="94661"/>
  </p:normalViewPr>
  <p:slideViewPr>
    <p:cSldViewPr snapToGrid="0">
      <p:cViewPr varScale="1">
        <p:scale>
          <a:sx n="119" d="100"/>
          <a:sy n="119" d="100"/>
        </p:scale>
        <p:origin x="22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https://fidoalliance.org/specifications/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https://fidoalliance.org/specifications/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https://fidoalliance.org/specifications/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https://simplewebauthn.dev/docs/packages/browser/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- https://simplewebauthn.dev/docs/advanced/passkeys/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- https://simplewebauthn.dev/docs/advanced/passkeys/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https://www.w3.org/TR/webauthn-3/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https://fidoalliance.org/passkeys/</a:t>
            </a:r>
          </a:p>
          <a:p>
            <a:r>
              <a:t>- https://www.w3.org/TR/webauthn-3/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/Users/rikuto.kida/workspace/sandbox/passkey/passkey-introduction-draft.md</a:t>
            </a:r>
          </a:p>
          <a:p>
            <a:r>
              <a:t>- /Users/rikuto.kida/workspace/sandbox/passkey/passkey-implementation-draft.md</a:t>
            </a:r>
          </a:p>
          <a:p>
            <a:r>
              <a:t>- https://fidoalliance.org/passkeys/</a:t>
            </a:r>
          </a:p>
          <a:p>
            <a:r>
              <a:t>- https://fidoalliance.org/specifications/</a:t>
            </a:r>
          </a:p>
          <a:p>
            <a:r>
              <a:t>- https://www.w3.org/TR/webauthn-3/</a:t>
            </a:r>
          </a:p>
          <a:p>
            <a:r>
              <a:t>- https://developer.mozilla.org/ja/docs/Glossary/Relying_party</a:t>
            </a:r>
          </a:p>
          <a:p>
            <a:r>
              <a:t>- https://simplewebauthn.dev/docs/packages/browser/</a:t>
            </a:r>
          </a:p>
          <a:p>
            <a:r>
              <a:t>- https://simplewebauthn.dev/docs/packages/server/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6AFFEEA-39EE-446F-AAF1-7C0117E1C1B0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609600" cy="6667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0F221F9-667B-4417-A683-323717ED8D2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PASSKEY INTRODUCTION / IMPLEMENTATION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B0E0603-149A-44A3-9F05-FA730C0AADE7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685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4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パスキー入門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1C824F7-0AA8-4905-BE6C-B8607C955735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723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FIDO2・WebAuthnの全体像と入出力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31BD99-B0C9-4AA5-8A6A-2E2C2FE6F763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誰が、どのオブジェクトを渡し、何を検証するのか</a:t>
            </a:r>
          </a:p>
        </p:txBody>
      </p:sp>
      <p:sp>
        <p:nvSpPr>
          <p:cNvPr id="6" name="右矢印 5">
            <a:extLst>
              <a:ext uri="{FF2B5EF4-FFF2-40B4-BE49-F238E27FC236}">
                <a16:creationId xmlns:a16="http://schemas.microsoft.com/office/drawing/2014/main" id="{B337EAA4-809A-42E2-9C43-4D6ABA38A6DB}"/>
              </a:ext>
            </a:extLst>
          </p:cNvPr>
          <p:cNvSpPr>
            <a:spLocks noGrp="1"/>
          </p:cNvSpPr>
          <p:nvPr/>
        </p:nvSpPr>
        <p:spPr>
          <a:xfrm>
            <a:off x="8629650" y="2209800"/>
            <a:ext cx="78105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EFE1262A-0A54-4D46-8DF6-F680AB96E521}"/>
              </a:ext>
            </a:extLst>
          </p:cNvPr>
          <p:cNvSpPr>
            <a:spLocks noGrp="1"/>
          </p:cNvSpPr>
          <p:nvPr/>
        </p:nvSpPr>
        <p:spPr>
          <a:xfrm>
            <a:off x="7524750" y="1752600"/>
            <a:ext cx="1104900" cy="110490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C11DB57-AD2F-4043-A251-7326D3B0A250}"/>
              </a:ext>
            </a:extLst>
          </p:cNvPr>
          <p:cNvSpPr>
            <a:spLocks noGrp="1"/>
          </p:cNvSpPr>
          <p:nvPr/>
        </p:nvSpPr>
        <p:spPr>
          <a:xfrm>
            <a:off x="7524750" y="1771650"/>
            <a:ext cx="1104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</a:t>
            </a:r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37FA399B-0381-4164-9596-CD8384C2BA36}"/>
              </a:ext>
            </a:extLst>
          </p:cNvPr>
          <p:cNvSpPr>
            <a:spLocks noGrp="1"/>
          </p:cNvSpPr>
          <p:nvPr/>
        </p:nvSpPr>
        <p:spPr>
          <a:xfrm>
            <a:off x="9410700" y="1752600"/>
            <a:ext cx="1104900" cy="110490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E4ABD26-B284-4792-BD6B-1283785E105E}"/>
              </a:ext>
            </a:extLst>
          </p:cNvPr>
          <p:cNvSpPr>
            <a:spLocks noGrp="1"/>
          </p:cNvSpPr>
          <p:nvPr/>
        </p:nvSpPr>
        <p:spPr>
          <a:xfrm>
            <a:off x="9410700" y="1771650"/>
            <a:ext cx="1104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署名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50DE64F0-7A1D-4021-BAB0-073F26516A79}"/>
              </a:ext>
            </a:extLst>
          </p:cNvPr>
          <p:cNvSpPr>
            <a:spLocks noGrp="1"/>
          </p:cNvSpPr>
          <p:nvPr/>
        </p:nvSpPr>
        <p:spPr>
          <a:xfrm>
            <a:off x="10515600" y="3409950"/>
            <a:ext cx="1104900" cy="110490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16A7AE5-9886-4302-A9F0-9EDC8B1D7308}"/>
              </a:ext>
            </a:extLst>
          </p:cNvPr>
          <p:cNvSpPr>
            <a:spLocks noGrp="1"/>
          </p:cNvSpPr>
          <p:nvPr/>
        </p:nvSpPr>
        <p:spPr>
          <a:xfrm>
            <a:off x="10515600" y="3429000"/>
            <a:ext cx="11049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公開鍵</a:t>
            </a:r>
          </a:p>
        </p:txBody>
      </p:sp>
      <p:sp>
        <p:nvSpPr>
          <p:cNvPr id="13" name="下矢印 12">
            <a:extLst>
              <a:ext uri="{FF2B5EF4-FFF2-40B4-BE49-F238E27FC236}">
                <a16:creationId xmlns:a16="http://schemas.microsoft.com/office/drawing/2014/main" id="{69CB10AD-4A02-42C8-B32B-B7FE31B98B13}"/>
              </a:ext>
            </a:extLst>
          </p:cNvPr>
          <p:cNvSpPr>
            <a:spLocks noGrp="1"/>
          </p:cNvSpPr>
          <p:nvPr/>
        </p:nvSpPr>
        <p:spPr>
          <a:xfrm>
            <a:off x="9906000" y="2857500"/>
            <a:ext cx="838200" cy="228600"/>
          </a:xfrm>
          <a:prstGeom prst="down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D7E5FBC-BE52-438A-9E31-B4C4B609ACA6}"/>
              </a:ext>
            </a:extLst>
          </p:cNvPr>
          <p:cNvSpPr>
            <a:spLocks noGrp="1"/>
          </p:cNvSpPr>
          <p:nvPr/>
        </p:nvSpPr>
        <p:spPr>
          <a:xfrm>
            <a:off x="685800" y="57340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2B9F100-27BA-4343-B78A-CA98CCA608CB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895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登録・認証シーケンス / WebAuthnオブジェクト / SimpleWebAuthn</a:t>
            </a:r>
          </a:p>
        </p:txBody>
      </p:sp>
    </p:spTree>
    <p:extLst>
      <p:ext uri="{BB962C8B-B14F-4D97-AF65-F5344CB8AC3E}">
        <p14:creationId xmlns:p14="http://schemas.microsoft.com/office/powerpoint/2010/main" val="1219028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BB8444C-1B5A-4F86-A230-7FF7D9CE24E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B187819-1513-4749-ACB0-A2AA4FC85620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01 / CORE IDEA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B9AA54E-A8C4-4739-A33A-C9AE43A895D6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パスキーは、秘密鍵で署名し、公開鍵で検証する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22E410B-47A5-46AD-B269-77882142514A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F368768-EC85-41EF-A472-21999E88873C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A34A48-602F-4A3D-A362-7A44C613B56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秘密鍵は認証器に残り、RPは登録済み公開鍵だけを使って正当性を確認する。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89ECA61F-947B-40C9-9938-60E753E697F1}"/>
              </a:ext>
            </a:extLst>
          </p:cNvPr>
          <p:cNvSpPr>
            <a:spLocks noGrp="1"/>
          </p:cNvSpPr>
          <p:nvPr/>
        </p:nvSpPr>
        <p:spPr>
          <a:xfrm>
            <a:off x="3067050" y="2781300"/>
            <a:ext cx="952500" cy="2667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794D34FD-6B2E-40E3-9A30-45BF74D0CE4B}"/>
              </a:ext>
            </a:extLst>
          </p:cNvPr>
          <p:cNvSpPr>
            <a:spLocks noGrp="1"/>
          </p:cNvSpPr>
          <p:nvPr/>
        </p:nvSpPr>
        <p:spPr>
          <a:xfrm>
            <a:off x="7543800" y="2781300"/>
            <a:ext cx="952500" cy="2667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536A1951-B533-4912-844D-A80EAAF3B3C2}"/>
              </a:ext>
            </a:extLst>
          </p:cNvPr>
          <p:cNvSpPr>
            <a:spLocks noGrp="1"/>
          </p:cNvSpPr>
          <p:nvPr/>
        </p:nvSpPr>
        <p:spPr>
          <a:xfrm>
            <a:off x="857250" y="2209800"/>
            <a:ext cx="1962150" cy="1962150"/>
          </a:xfrm>
          <a:prstGeom prst="ellipse">
            <a:avLst/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C6F573C-385F-4038-B303-EB3090B7FBC0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196215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278FD33F-65C1-4B9F-AF45-AC8DCAE47927}"/>
              </a:ext>
            </a:extLst>
          </p:cNvPr>
          <p:cNvSpPr>
            <a:spLocks noGrp="1"/>
          </p:cNvSpPr>
          <p:nvPr/>
        </p:nvSpPr>
        <p:spPr>
          <a:xfrm>
            <a:off x="4229100" y="2095500"/>
            <a:ext cx="2190750" cy="219075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D1BBCC-8E27-40EB-B598-A8168F6AE4C2}"/>
              </a:ext>
            </a:extLst>
          </p:cNvPr>
          <p:cNvSpPr>
            <a:spLocks noGrp="1"/>
          </p:cNvSpPr>
          <p:nvPr/>
        </p:nvSpPr>
        <p:spPr>
          <a:xfrm>
            <a:off x="4229100" y="2114550"/>
            <a:ext cx="21907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秘密鍵で署名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B58A3229-866B-4E36-94D4-3B3FDF239FFA}"/>
              </a:ext>
            </a:extLst>
          </p:cNvPr>
          <p:cNvSpPr>
            <a:spLocks noGrp="1"/>
          </p:cNvSpPr>
          <p:nvPr/>
        </p:nvSpPr>
        <p:spPr>
          <a:xfrm>
            <a:off x="8705850" y="2095500"/>
            <a:ext cx="2190750" cy="2190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6DDA469-8776-4E63-8A27-A79660CE6D22}"/>
              </a:ext>
            </a:extLst>
          </p:cNvPr>
          <p:cNvSpPr>
            <a:spLocks noGrp="1"/>
          </p:cNvSpPr>
          <p:nvPr/>
        </p:nvSpPr>
        <p:spPr>
          <a:xfrm>
            <a:off x="8705850" y="2114550"/>
            <a:ext cx="21907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公開鍵で検証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DA85433-262B-4187-83EA-F05C20FC6D41}"/>
              </a:ext>
            </a:extLst>
          </p:cNvPr>
          <p:cNvSpPr>
            <a:spLocks noGrp="1"/>
          </p:cNvSpPr>
          <p:nvPr/>
        </p:nvSpPr>
        <p:spPr>
          <a:xfrm>
            <a:off x="857250" y="441960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RPサーバーが毎回発行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F105B5CE-AA3B-4607-97CD-3FE4737A3E06}"/>
              </a:ext>
            </a:extLst>
          </p:cNvPr>
          <p:cNvSpPr>
            <a:spLocks noGrp="1"/>
          </p:cNvSpPr>
          <p:nvPr/>
        </p:nvSpPr>
        <p:spPr>
          <a:xfrm>
            <a:off x="4229100" y="4419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認証器の外へ出ない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93FC768-7759-44FD-9D94-FC1ADED8D526}"/>
              </a:ext>
            </a:extLst>
          </p:cNvPr>
          <p:cNvSpPr>
            <a:spLocks noGrp="1"/>
          </p:cNvSpPr>
          <p:nvPr/>
        </p:nvSpPr>
        <p:spPr>
          <a:xfrm>
            <a:off x="8705850" y="44196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登録時にRPへ保存</a:t>
            </a: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7BF8901C-C80C-4844-89AA-0FE9EE020B03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820400" cy="800100"/>
          </a:xfrm>
          <a:prstGeom prst="roundRect">
            <a:avLst>
              <a:gd name="adj" fmla="val 9524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1CB4067-854B-4870-ABFF-9F40104B2927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覚える4点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5EE9338-B2F8-4129-B1A5-535FE4E4C895}"/>
              </a:ext>
            </a:extLst>
          </p:cNvPr>
          <p:cNvSpPr>
            <a:spLocks noGrp="1"/>
          </p:cNvSpPr>
          <p:nvPr/>
        </p:nvSpPr>
        <p:spPr>
          <a:xfrm>
            <a:off x="2152650" y="5314950"/>
            <a:ext cx="885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秘密鍵は送らない  /  公開鍵を保存  /  challengeは一度きり  /  生体情報はRPへ送らない</a:t>
            </a:r>
          </a:p>
        </p:txBody>
      </p:sp>
    </p:spTree>
    <p:extLst>
      <p:ext uri="{BB962C8B-B14F-4D97-AF65-F5344CB8AC3E}">
        <p14:creationId xmlns:p14="http://schemas.microsoft.com/office/powerpoint/2010/main" val="1249890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20AC4C0-49F7-4C45-8503-1AFA8C5B0BD8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6AAEFDE-20B6-47C1-B663-B953FE0FCF52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02 / USER VERIFICATION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21BB464-B401-4995-B194-139F3F77DB39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生体認証やPINは、秘密鍵を使わせる端末内の確認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F186643-4171-4222-A35C-D0DBFC12EB3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394964C-8479-46A9-9D16-E1F548304626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F989BD-518F-440A-BD17-24A8C3CB442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顔・指紋・PINそのものを、Webサービスへ送る仕組みではない。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C3CC630B-F975-44EE-B3B8-519403ECA115}"/>
              </a:ext>
            </a:extLst>
          </p:cNvPr>
          <p:cNvSpPr>
            <a:spLocks noGrp="1"/>
          </p:cNvSpPr>
          <p:nvPr/>
        </p:nvSpPr>
        <p:spPr>
          <a:xfrm>
            <a:off x="2914650" y="2990850"/>
            <a:ext cx="914400" cy="2476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0B9BEB15-37F0-4D5C-9896-2778AFDB1359}"/>
              </a:ext>
            </a:extLst>
          </p:cNvPr>
          <p:cNvSpPr>
            <a:spLocks noGrp="1"/>
          </p:cNvSpPr>
          <p:nvPr/>
        </p:nvSpPr>
        <p:spPr>
          <a:xfrm>
            <a:off x="7410450" y="2990850"/>
            <a:ext cx="914400" cy="2476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9536618A-B0B4-4872-B1A9-E0A642447B7A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619250" cy="16192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0190C4CE-6005-42AE-B0AE-61F13D28B77A}"/>
              </a:ext>
            </a:extLst>
          </p:cNvPr>
          <p:cNvSpPr>
            <a:spLocks noGrp="1"/>
          </p:cNvSpPr>
          <p:nvPr/>
        </p:nvSpPr>
        <p:spPr>
          <a:xfrm>
            <a:off x="800100" y="2286000"/>
            <a:ext cx="1619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利用者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664015E3-09DD-47C2-AB87-9F6EECCAF36C}"/>
              </a:ext>
            </a:extLst>
          </p:cNvPr>
          <p:cNvSpPr>
            <a:spLocks noGrp="1"/>
          </p:cNvSpPr>
          <p:nvPr/>
        </p:nvSpPr>
        <p:spPr>
          <a:xfrm>
            <a:off x="4038600" y="2076450"/>
            <a:ext cx="3143250" cy="2000250"/>
          </a:xfrm>
          <a:prstGeom prst="roundRect">
            <a:avLst>
              <a:gd name="adj" fmla="val 3810"/>
            </a:avLst>
          </a:prstGeom>
          <a:solidFill>
            <a:srgbClr val="F9EF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6377D86-1B48-4B1B-8BA4-DF58156A99B8}"/>
              </a:ext>
            </a:extLst>
          </p:cNvPr>
          <p:cNvSpPr>
            <a:spLocks noGrp="1"/>
          </p:cNvSpPr>
          <p:nvPr/>
        </p:nvSpPr>
        <p:spPr>
          <a:xfrm>
            <a:off x="4362450" y="234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19707B6-FCEC-4DB9-BD71-9CE4492D0B25}"/>
              </a:ext>
            </a:extLst>
          </p:cNvPr>
          <p:cNvSpPr>
            <a:spLocks noGrp="1"/>
          </p:cNvSpPr>
          <p:nvPr/>
        </p:nvSpPr>
        <p:spPr>
          <a:xfrm>
            <a:off x="4362450" y="2819400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生体認証・PINを確認</a:t>
            </a:r>
          </a:p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秘密鍵の使用を許可</a:t>
            </a:r>
          </a:p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↓</a:t>
            </a:r>
          </a:p>
          <a:p>
            <a:pPr algn="ctr">
              <a:lnSpc>
                <a:spcPct val="108000"/>
              </a:lnSpc>
              <a:buNone/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署名を作る</a:t>
            </a:r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59BA312D-4A99-48C8-86D3-E5678F6060C6}"/>
              </a:ext>
            </a:extLst>
          </p:cNvPr>
          <p:cNvSpPr>
            <a:spLocks noGrp="1"/>
          </p:cNvSpPr>
          <p:nvPr/>
        </p:nvSpPr>
        <p:spPr>
          <a:xfrm>
            <a:off x="8743950" y="2266950"/>
            <a:ext cx="1619250" cy="16192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9F0CE1A-81CA-4127-9E39-F54DFBA89450}"/>
              </a:ext>
            </a:extLst>
          </p:cNvPr>
          <p:cNvSpPr>
            <a:spLocks noGrp="1"/>
          </p:cNvSpPr>
          <p:nvPr/>
        </p:nvSpPr>
        <p:spPr>
          <a:xfrm>
            <a:off x="8743950" y="2286000"/>
            <a:ext cx="1619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RP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F9E126F-70A0-4CF3-9E4A-843BC9376056}"/>
              </a:ext>
            </a:extLst>
          </p:cNvPr>
          <p:cNvSpPr>
            <a:spLocks noGrp="1"/>
          </p:cNvSpPr>
          <p:nvPr/>
        </p:nvSpPr>
        <p:spPr>
          <a:xfrm>
            <a:off x="6838950" y="43624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生体情報はここを越えない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4DAE14A-85B7-48F7-A0BB-FB0F591E5BC2}"/>
              </a:ext>
            </a:extLst>
          </p:cNvPr>
          <p:cNvSpPr>
            <a:spLocks noGrp="1"/>
          </p:cNvSpPr>
          <p:nvPr/>
        </p:nvSpPr>
        <p:spPr>
          <a:xfrm>
            <a:off x="7981950" y="2000250"/>
            <a:ext cx="47625" cy="2476500"/>
          </a:xfrm>
          <a:prstGeom prst="rect">
            <a:avLst/>
          </a:prstGeom>
          <a:solidFill>
            <a:srgbClr val="C94A4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D863FC4-D624-4752-A907-04AFDC088981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利用者が渡すもの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3286864D-C5DC-45C0-8EE2-AAAFD42DB890}"/>
              </a:ext>
            </a:extLst>
          </p:cNvPr>
          <p:cNvSpPr>
            <a:spLocks noGrp="1"/>
          </p:cNvSpPr>
          <p:nvPr/>
        </p:nvSpPr>
        <p:spPr>
          <a:xfrm>
            <a:off x="685800" y="54102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本人確認の操作・同意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86449E1-D581-4F47-B36B-B963AC8481D8}"/>
              </a:ext>
            </a:extLst>
          </p:cNvPr>
          <p:cNvSpPr>
            <a:spLocks noGrp="1"/>
          </p:cNvSpPr>
          <p:nvPr/>
        </p:nvSpPr>
        <p:spPr>
          <a:xfrm>
            <a:off x="6705600" y="5048250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RPが受け取るもの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7E39FFF-D069-4F1F-BAF7-5DC9F9395B60}"/>
              </a:ext>
            </a:extLst>
          </p:cNvPr>
          <p:cNvSpPr>
            <a:spLocks noGrp="1"/>
          </p:cNvSpPr>
          <p:nvPr/>
        </p:nvSpPr>
        <p:spPr>
          <a:xfrm>
            <a:off x="6705600" y="54102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署名・Credential ID・検証用データ</a:t>
            </a:r>
          </a:p>
        </p:txBody>
      </p:sp>
    </p:spTree>
    <p:extLst>
      <p:ext uri="{BB962C8B-B14F-4D97-AF65-F5344CB8AC3E}">
        <p14:creationId xmlns:p14="http://schemas.microsoft.com/office/powerpoint/2010/main" val="176215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8C1E1B28-3128-4BD3-9320-1B76E1A5332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BC4C62E-D0AB-4DFB-B26D-6C019C45CFE8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03 / WHAT CHANGES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88D2DB-3A97-4D02-BB05-E54ECC6591F6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秘密情報の照合から、公開鍵による署名検証へ変わる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177D2BC-016F-4F15-A544-A46EEE7FD90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A9DCFC0-8BFF-4AF4-B092-7DC32605CBE3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D5C9895-661B-462C-9D20-2F198C1D6A6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ユーザー体験だけでなく、サーバーが保持する情報と攻撃面が変わる。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8083976-7467-4495-AFEA-8D681A23D954}"/>
              </a:ext>
            </a:extLst>
          </p:cNvPr>
          <p:cNvSpPr>
            <a:spLocks noGrp="1"/>
          </p:cNvSpPr>
          <p:nvPr/>
        </p:nvSpPr>
        <p:spPr>
          <a:xfrm>
            <a:off x="4019550" y="1866900"/>
            <a:ext cx="9525" cy="40005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78FF084-FB01-4525-83F3-DB5C7448D2F4}"/>
              </a:ext>
            </a:extLst>
          </p:cNvPr>
          <p:cNvSpPr>
            <a:spLocks noGrp="1"/>
          </p:cNvSpPr>
          <p:nvPr/>
        </p:nvSpPr>
        <p:spPr>
          <a:xfrm>
            <a:off x="7620000" y="1866900"/>
            <a:ext cx="9525" cy="40005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1AADA34-6E10-4E35-ACED-C7D5030F8980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観点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1B95AE2-39DA-4F5E-B734-32ACD73A500D}"/>
              </a:ext>
            </a:extLst>
          </p:cNvPr>
          <p:cNvSpPr>
            <a:spLocks noGrp="1"/>
          </p:cNvSpPr>
          <p:nvPr/>
        </p:nvSpPr>
        <p:spPr>
          <a:xfrm>
            <a:off x="4419600" y="1943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パスワード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FE0CBDE-56E2-4C8A-88E4-E57940AD837A}"/>
              </a:ext>
            </a:extLst>
          </p:cNvPr>
          <p:cNvSpPr>
            <a:spLocks noGrp="1"/>
          </p:cNvSpPr>
          <p:nvPr/>
        </p:nvSpPr>
        <p:spPr>
          <a:xfrm>
            <a:off x="8020050" y="19431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パスキー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F4D6B18-C77F-497C-BD88-8E714D05D4F2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D22C23B-4DDF-4D78-B521-91438AE21CF9}"/>
              </a:ext>
            </a:extLst>
          </p:cNvPr>
          <p:cNvSpPr>
            <a:spLocks noGrp="1"/>
          </p:cNvSpPr>
          <p:nvPr/>
        </p:nvSpPr>
        <p:spPr>
          <a:xfrm>
            <a:off x="685800" y="26289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ユーザーが扱うもの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9609928-61EF-40ED-B504-74647549AB58}"/>
              </a:ext>
            </a:extLst>
          </p:cNvPr>
          <p:cNvSpPr>
            <a:spLocks noGrp="1"/>
          </p:cNvSpPr>
          <p:nvPr/>
        </p:nvSpPr>
        <p:spPr>
          <a:xfrm>
            <a:off x="4419600" y="26289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文字列の秘密情報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1230C1F-9C65-4DEA-B5A1-DA3D6C33CFD6}"/>
              </a:ext>
            </a:extLst>
          </p:cNvPr>
          <p:cNvSpPr>
            <a:spLocks noGrp="1"/>
          </p:cNvSpPr>
          <p:nvPr/>
        </p:nvSpPr>
        <p:spPr>
          <a:xfrm>
            <a:off x="8020050" y="26289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生体認証・PINなど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8B924C1-455D-4DB2-8F45-5AF0BF0614EE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71C1081-02EA-4284-83C8-4D15B8A2D192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サーバーが保存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0ABFA22-9CD8-4BAC-9719-60C94632044C}"/>
              </a:ext>
            </a:extLst>
          </p:cNvPr>
          <p:cNvSpPr>
            <a:spLocks noGrp="1"/>
          </p:cNvSpPr>
          <p:nvPr/>
        </p:nvSpPr>
        <p:spPr>
          <a:xfrm>
            <a:off x="4419600" y="34099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パスワードのハッシュ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9614F0CA-F9C8-4DCA-93E3-73B74CE71739}"/>
              </a:ext>
            </a:extLst>
          </p:cNvPr>
          <p:cNvSpPr>
            <a:spLocks noGrp="1"/>
          </p:cNvSpPr>
          <p:nvPr/>
        </p:nvSpPr>
        <p:spPr>
          <a:xfrm>
            <a:off x="8020050" y="34099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公開鍵・Credential ID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EC2B23C-C3C8-4DAF-AB08-8BBD54052D5F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E0CD808-C277-469A-B924-6A8A7AB6F15F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認証時の確認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68C57CA-632D-4150-A05C-2446A03D40A5}"/>
              </a:ext>
            </a:extLst>
          </p:cNvPr>
          <p:cNvSpPr>
            <a:spLocks noGrp="1"/>
          </p:cNvSpPr>
          <p:nvPr/>
        </p:nvSpPr>
        <p:spPr>
          <a:xfrm>
            <a:off x="4419600" y="419100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入力値のハッシュを照合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532A6C0-4E36-4C7A-90F5-9A9F8B9C49F5}"/>
              </a:ext>
            </a:extLst>
          </p:cNvPr>
          <p:cNvSpPr>
            <a:spLocks noGrp="1"/>
          </p:cNvSpPr>
          <p:nvPr/>
        </p:nvSpPr>
        <p:spPr>
          <a:xfrm>
            <a:off x="8020050" y="419100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秘密鍵の署名を検証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743CC09-D65A-4293-837E-DD35D50AE72E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94C1CB7C-7EDB-496E-B638-F7223F2076DF}"/>
              </a:ext>
            </a:extLst>
          </p:cNvPr>
          <p:cNvSpPr>
            <a:spLocks noGrp="1"/>
          </p:cNvSpPr>
          <p:nvPr/>
        </p:nvSpPr>
        <p:spPr>
          <a:xfrm>
            <a:off x="685800" y="4972050"/>
            <a:ext cx="295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フィッシング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37F803D6-A897-44D6-8E55-7D4F0BA570E6}"/>
              </a:ext>
            </a:extLst>
          </p:cNvPr>
          <p:cNvSpPr>
            <a:spLocks noGrp="1"/>
          </p:cNvSpPr>
          <p:nvPr/>
        </p:nvSpPr>
        <p:spPr>
          <a:xfrm>
            <a:off x="4419600" y="4972050"/>
            <a:ext cx="2857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偽サイトへ入力できる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8E8137B-2DCC-42F3-A9AB-E6112D132C82}"/>
              </a:ext>
            </a:extLst>
          </p:cNvPr>
          <p:cNvSpPr>
            <a:spLocks noGrp="1"/>
          </p:cNvSpPr>
          <p:nvPr/>
        </p:nvSpPr>
        <p:spPr>
          <a:xfrm>
            <a:off x="8020050" y="4972050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 IDが違えば利用できない</a:t>
            </a:r>
          </a:p>
        </p:txBody>
      </p:sp>
    </p:spTree>
    <p:extLst>
      <p:ext uri="{BB962C8B-B14F-4D97-AF65-F5344CB8AC3E}">
        <p14:creationId xmlns:p14="http://schemas.microsoft.com/office/powerpoint/2010/main" val="1008518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035C0F6-5AEF-4BC2-A45A-EE6F80DDCF71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8970A0B-EB6E-4989-97FA-D2698E35747A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04 / PROBLEMS SOLVED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D1A60CB-EE63-4D53-8C6E-1A2F1E46ACA5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パスキーは、パスワードが生む4つの弱点を構造で減らす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8CD6C9F-B33E-4B16-90B7-F31B8D770F8E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0FB5216-7976-438D-B157-EADF1BD2EB9C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24C49ED-D4A1-49CA-91FD-F2A0F4D0213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便利なログイン手段というより、共有秘密を配る設計から離れることが本質。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EC8989C-07DC-453E-A9C6-017D14B835B9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従来の問題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844F83E-5E67-48E7-B647-CD592840A9E7}"/>
              </a:ext>
            </a:extLst>
          </p:cNvPr>
          <p:cNvSpPr>
            <a:spLocks noGrp="1"/>
          </p:cNvSpPr>
          <p:nvPr/>
        </p:nvSpPr>
        <p:spPr>
          <a:xfrm>
            <a:off x="3848100" y="16954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パスキーの仕組み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0DC89FC-48BF-4BA0-9D12-6939CBEBA3DA}"/>
              </a:ext>
            </a:extLst>
          </p:cNvPr>
          <p:cNvSpPr>
            <a:spLocks noGrp="1"/>
          </p:cNvSpPr>
          <p:nvPr/>
        </p:nvSpPr>
        <p:spPr>
          <a:xfrm>
            <a:off x="7886700" y="16954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得られる効果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E3054AE-FB45-482C-BA41-1ECA173D21A0}"/>
              </a:ext>
            </a:extLst>
          </p:cNvPr>
          <p:cNvSpPr>
            <a:spLocks noGrp="1"/>
          </p:cNvSpPr>
          <p:nvPr/>
        </p:nvSpPr>
        <p:spPr>
          <a:xfrm>
            <a:off x="685800" y="1924049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6C1B5AE-2F5E-4D2D-9CA9-DE0FEB7B0292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使い回し・漏えい</a:t>
            </a:r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041163B2-BB09-4939-9550-EA1014DFA88D}"/>
              </a:ext>
            </a:extLst>
          </p:cNvPr>
          <p:cNvSpPr>
            <a:spLocks noGrp="1"/>
          </p:cNvSpPr>
          <p:nvPr/>
        </p:nvSpPr>
        <p:spPr>
          <a:xfrm>
            <a:off x="3219450" y="2085975"/>
            <a:ext cx="419100" cy="1714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A55591B-C1E0-41D1-8261-CB8312636F99}"/>
              </a:ext>
            </a:extLst>
          </p:cNvPr>
          <p:cNvSpPr>
            <a:spLocks noGrp="1"/>
          </p:cNvSpPr>
          <p:nvPr/>
        </p:nvSpPr>
        <p:spPr>
          <a:xfrm>
            <a:off x="3848100" y="19431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サービスごとに別の鍵ペア</a:t>
            </a:r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90D8A08F-E0B9-42C3-9456-9E30CAD1019A}"/>
              </a:ext>
            </a:extLst>
          </p:cNvPr>
          <p:cNvSpPr>
            <a:spLocks noGrp="1"/>
          </p:cNvSpPr>
          <p:nvPr/>
        </p:nvSpPr>
        <p:spPr>
          <a:xfrm>
            <a:off x="7162800" y="2085975"/>
            <a:ext cx="419100" cy="1714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79428B6-F0AC-45CA-A19E-1A2680782FDE}"/>
              </a:ext>
            </a:extLst>
          </p:cNvPr>
          <p:cNvSpPr>
            <a:spLocks noGrp="1"/>
          </p:cNvSpPr>
          <p:nvPr/>
        </p:nvSpPr>
        <p:spPr>
          <a:xfrm>
            <a:off x="7886700" y="19431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他サービスへの横展開を防ぐ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89D4EA-90E0-457F-A6DB-084768610608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0FC14DD-5B31-47DD-A340-89E4430F6FE3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偽サイトへの入力</a:t>
            </a:r>
          </a:p>
        </p:txBody>
      </p:sp>
      <p:sp>
        <p:nvSpPr>
          <p:cNvPr id="18" name="右矢印 17">
            <a:extLst>
              <a:ext uri="{FF2B5EF4-FFF2-40B4-BE49-F238E27FC236}">
                <a16:creationId xmlns:a16="http://schemas.microsoft.com/office/drawing/2014/main" id="{5B40F821-75EF-4070-B55D-F4587E861968}"/>
              </a:ext>
            </a:extLst>
          </p:cNvPr>
          <p:cNvSpPr>
            <a:spLocks noGrp="1"/>
          </p:cNvSpPr>
          <p:nvPr/>
        </p:nvSpPr>
        <p:spPr>
          <a:xfrm>
            <a:off x="3219450" y="3019425"/>
            <a:ext cx="419100" cy="1714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39A90EA-75BC-44C6-8811-5968DAAA19EB}"/>
              </a:ext>
            </a:extLst>
          </p:cNvPr>
          <p:cNvSpPr>
            <a:spLocks noGrp="1"/>
          </p:cNvSpPr>
          <p:nvPr/>
        </p:nvSpPr>
        <p:spPr>
          <a:xfrm>
            <a:off x="3848100" y="28765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資格情報をRP IDへスコープ</a:t>
            </a:r>
          </a:p>
        </p:txBody>
      </p:sp>
      <p:sp>
        <p:nvSpPr>
          <p:cNvPr id="20" name="右矢印 19">
            <a:extLst>
              <a:ext uri="{FF2B5EF4-FFF2-40B4-BE49-F238E27FC236}">
                <a16:creationId xmlns:a16="http://schemas.microsoft.com/office/drawing/2014/main" id="{18CBFD6C-0270-4DF7-9700-3F008D282B3E}"/>
              </a:ext>
            </a:extLst>
          </p:cNvPr>
          <p:cNvSpPr>
            <a:spLocks noGrp="1"/>
          </p:cNvSpPr>
          <p:nvPr/>
        </p:nvSpPr>
        <p:spPr>
          <a:xfrm>
            <a:off x="7162800" y="3019425"/>
            <a:ext cx="419100" cy="1714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70A2F55-B380-4D05-8AB2-84F8ED823442}"/>
              </a:ext>
            </a:extLst>
          </p:cNvPr>
          <p:cNvSpPr>
            <a:spLocks noGrp="1"/>
          </p:cNvSpPr>
          <p:nvPr/>
        </p:nvSpPr>
        <p:spPr>
          <a:xfrm>
            <a:off x="7886700" y="28765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別ドメインでは秘密鍵を使えない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751E161-C8D8-410B-9699-1FD31B20AC75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CA26A7-E5A7-462B-9E7A-9829B8811941}"/>
              </a:ext>
            </a:extLst>
          </p:cNvPr>
          <p:cNvSpPr>
            <a:spLocks noGrp="1"/>
          </p:cNvSpPr>
          <p:nvPr/>
        </p:nvSpPr>
        <p:spPr>
          <a:xfrm>
            <a:off x="685800" y="38100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サーバー侵害</a:t>
            </a:r>
          </a:p>
        </p:txBody>
      </p:sp>
      <p:sp>
        <p:nvSpPr>
          <p:cNvPr id="24" name="右矢印 23">
            <a:extLst>
              <a:ext uri="{FF2B5EF4-FFF2-40B4-BE49-F238E27FC236}">
                <a16:creationId xmlns:a16="http://schemas.microsoft.com/office/drawing/2014/main" id="{2DA4D44B-8F22-4BD5-839D-35147D222F08}"/>
              </a:ext>
            </a:extLst>
          </p:cNvPr>
          <p:cNvSpPr>
            <a:spLocks noGrp="1"/>
          </p:cNvSpPr>
          <p:nvPr/>
        </p:nvSpPr>
        <p:spPr>
          <a:xfrm>
            <a:off x="3219450" y="3952875"/>
            <a:ext cx="419100" cy="1714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1984866-D9EE-4C47-AAAB-4AA42315AE0C}"/>
              </a:ext>
            </a:extLst>
          </p:cNvPr>
          <p:cNvSpPr>
            <a:spLocks noGrp="1"/>
          </p:cNvSpPr>
          <p:nvPr/>
        </p:nvSpPr>
        <p:spPr>
          <a:xfrm>
            <a:off x="3848100" y="38100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RPは公開鍵だけを保存</a:t>
            </a:r>
          </a:p>
        </p:txBody>
      </p:sp>
      <p:sp>
        <p:nvSpPr>
          <p:cNvPr id="26" name="右矢印 25">
            <a:extLst>
              <a:ext uri="{FF2B5EF4-FFF2-40B4-BE49-F238E27FC236}">
                <a16:creationId xmlns:a16="http://schemas.microsoft.com/office/drawing/2014/main" id="{3F0CB034-AD77-450B-B783-D75E5F60E09C}"/>
              </a:ext>
            </a:extLst>
          </p:cNvPr>
          <p:cNvSpPr>
            <a:spLocks noGrp="1"/>
          </p:cNvSpPr>
          <p:nvPr/>
        </p:nvSpPr>
        <p:spPr>
          <a:xfrm>
            <a:off x="7162800" y="3952875"/>
            <a:ext cx="419100" cy="1714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5CDF7A34-57B0-42E7-B4DA-6F247C2E081A}"/>
              </a:ext>
            </a:extLst>
          </p:cNvPr>
          <p:cNvSpPr>
            <a:spLocks noGrp="1"/>
          </p:cNvSpPr>
          <p:nvPr/>
        </p:nvSpPr>
        <p:spPr>
          <a:xfrm>
            <a:off x="7886700" y="381000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認証用の秘密をDBから盗めない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2AAE9F8-3B62-4877-A295-15D655587DE1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0965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31BA71F-D83C-4539-A6DF-4CE991B35D9B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記憶・入力の負担</a:t>
            </a:r>
          </a:p>
        </p:txBody>
      </p:sp>
      <p:sp>
        <p:nvSpPr>
          <p:cNvPr id="30" name="右矢印 29">
            <a:extLst>
              <a:ext uri="{FF2B5EF4-FFF2-40B4-BE49-F238E27FC236}">
                <a16:creationId xmlns:a16="http://schemas.microsoft.com/office/drawing/2014/main" id="{FB6B5629-C214-40FC-902D-B26FDC51D2AA}"/>
              </a:ext>
            </a:extLst>
          </p:cNvPr>
          <p:cNvSpPr>
            <a:spLocks noGrp="1"/>
          </p:cNvSpPr>
          <p:nvPr/>
        </p:nvSpPr>
        <p:spPr>
          <a:xfrm>
            <a:off x="3219450" y="4886325"/>
            <a:ext cx="419100" cy="1714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8F1A9F0C-50D4-4029-A250-FD367C988CCA}"/>
              </a:ext>
            </a:extLst>
          </p:cNvPr>
          <p:cNvSpPr>
            <a:spLocks noGrp="1"/>
          </p:cNvSpPr>
          <p:nvPr/>
        </p:nvSpPr>
        <p:spPr>
          <a:xfrm>
            <a:off x="3848100" y="47434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端末の生体認証・PINを利用</a:t>
            </a:r>
          </a:p>
        </p:txBody>
      </p:sp>
      <p:sp>
        <p:nvSpPr>
          <p:cNvPr id="32" name="右矢印 31">
            <a:extLst>
              <a:ext uri="{FF2B5EF4-FFF2-40B4-BE49-F238E27FC236}">
                <a16:creationId xmlns:a16="http://schemas.microsoft.com/office/drawing/2014/main" id="{6FC8018B-E7D1-4413-9AD2-2FDBDD759CD3}"/>
              </a:ext>
            </a:extLst>
          </p:cNvPr>
          <p:cNvSpPr>
            <a:spLocks noGrp="1"/>
          </p:cNvSpPr>
          <p:nvPr/>
        </p:nvSpPr>
        <p:spPr>
          <a:xfrm>
            <a:off x="7162800" y="4886325"/>
            <a:ext cx="419100" cy="1714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756EB031-C53D-46E4-8F38-F2F08BA059F8}"/>
              </a:ext>
            </a:extLst>
          </p:cNvPr>
          <p:cNvSpPr>
            <a:spLocks noGrp="1"/>
          </p:cNvSpPr>
          <p:nvPr/>
        </p:nvSpPr>
        <p:spPr>
          <a:xfrm>
            <a:off x="7886700" y="4743450"/>
            <a:ext cx="3143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覚える・入力する秘密を減らす</a:t>
            </a:r>
          </a:p>
        </p:txBody>
      </p:sp>
    </p:spTree>
    <p:extLst>
      <p:ext uri="{BB962C8B-B14F-4D97-AF65-F5344CB8AC3E}">
        <p14:creationId xmlns:p14="http://schemas.microsoft.com/office/powerpoint/2010/main" val="97036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5D5BD840-037B-4091-A715-9C17897AA26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9FC884E-9170-4FA4-9E00-70CF4A8E211A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05 / TERMINOLOGY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FEDB4E3-251B-46C0-B416-8D158AC3BCD5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FIDO2は、WebAuthnとCTAPの担当範囲を組み合わせる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E546EEF-0744-4525-9803-8B2BC446C97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FD6A08A-E1D2-442A-8084-2608383DF1E1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62E408-AA91-41A3-B951-303CDAFCFB8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Webアプリ側の仕様と、外部認証器との通信仕様を分けて考える。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2B2837B5-B0AE-42FA-8359-E568CAF1E7CA}"/>
              </a:ext>
            </a:extLst>
          </p:cNvPr>
          <p:cNvSpPr>
            <a:spLocks noGrp="1"/>
          </p:cNvSpPr>
          <p:nvPr/>
        </p:nvSpPr>
        <p:spPr>
          <a:xfrm>
            <a:off x="4743450" y="2895600"/>
            <a:ext cx="76200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2869E80-759F-47B5-91CC-C4A8A0C8DC2A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7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FIDO2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8249006-4314-4B70-AF08-021ECC4DE513}"/>
              </a:ext>
            </a:extLst>
          </p:cNvPr>
          <p:cNvSpPr>
            <a:spLocks noGrp="1"/>
          </p:cNvSpPr>
          <p:nvPr/>
        </p:nvSpPr>
        <p:spPr>
          <a:xfrm>
            <a:off x="3810000" y="2133600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3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33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=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A9460C60-D7DF-491F-86BE-94FB7DFEC503}"/>
              </a:ext>
            </a:extLst>
          </p:cNvPr>
          <p:cNvSpPr>
            <a:spLocks noGrp="1"/>
          </p:cNvSpPr>
          <p:nvPr/>
        </p:nvSpPr>
        <p:spPr>
          <a:xfrm>
            <a:off x="5505450" y="194310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2A2CE25-82CF-438C-AE8A-99EEC6D79336}"/>
              </a:ext>
            </a:extLst>
          </p:cNvPr>
          <p:cNvSpPr>
            <a:spLocks noGrp="1"/>
          </p:cNvSpPr>
          <p:nvPr/>
        </p:nvSpPr>
        <p:spPr>
          <a:xfrm>
            <a:off x="5829300" y="22098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WebAuthn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D71C5A7-522B-4818-89FC-9DADC035E6A3}"/>
              </a:ext>
            </a:extLst>
          </p:cNvPr>
          <p:cNvSpPr>
            <a:spLocks noGrp="1"/>
          </p:cNvSpPr>
          <p:nvPr/>
        </p:nvSpPr>
        <p:spPr>
          <a:xfrm>
            <a:off x="5829300" y="2724150"/>
            <a:ext cx="1981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W3C</a:t>
            </a:r>
          </a:p>
          <a:p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 API・データ形式</a:t>
            </a:r>
          </a:p>
          <a:p>
            <a:pPr algn="ctr">
              <a:def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RP側の検証手順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133C6C6-4957-4E2E-ADED-695D13CE4947}"/>
              </a:ext>
            </a:extLst>
          </p:cNvPr>
          <p:cNvSpPr>
            <a:spLocks noGrp="1"/>
          </p:cNvSpPr>
          <p:nvPr/>
        </p:nvSpPr>
        <p:spPr>
          <a:xfrm>
            <a:off x="8210550" y="23241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8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+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5A947004-7BE4-4C65-9144-A89EAC1A3763}"/>
              </a:ext>
            </a:extLst>
          </p:cNvPr>
          <p:cNvSpPr>
            <a:spLocks noGrp="1"/>
          </p:cNvSpPr>
          <p:nvPr/>
        </p:nvSpPr>
        <p:spPr>
          <a:xfrm>
            <a:off x="8782050" y="194310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E6ED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2F4305E-872F-4E9A-894A-D48F24A3E875}"/>
              </a:ext>
            </a:extLst>
          </p:cNvPr>
          <p:cNvSpPr>
            <a:spLocks noGrp="1"/>
          </p:cNvSpPr>
          <p:nvPr/>
        </p:nvSpPr>
        <p:spPr>
          <a:xfrm>
            <a:off x="9105900" y="2209800"/>
            <a:ext cx="1981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1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21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CTAP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D5CF0B8-82E4-4C95-9565-6FB5B6872247}"/>
              </a:ext>
            </a:extLst>
          </p:cNvPr>
          <p:cNvSpPr>
            <a:spLocks noGrp="1"/>
          </p:cNvSpPr>
          <p:nvPr/>
        </p:nvSpPr>
        <p:spPr>
          <a:xfrm>
            <a:off x="8953500" y="2724150"/>
            <a:ext cx="228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FIDO Alliance</a:t>
            </a:r>
          </a:p>
          <a:p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クライアントと外部認証器</a:t>
            </a:r>
          </a:p>
          <a:p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USB / NFC / BLE / hybrid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10F5836-361E-463B-ADE9-6CE7515C0BEC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072515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D404574-BD9D-42DB-94A7-D1BD91050C66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WebAuthnの入口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6FE1DF63-FBCE-4CA4-87CC-A43B4CED5793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5143500" cy="876300"/>
          </a:xfrm>
          <a:prstGeom prst="roundRect">
            <a:avLst>
              <a:gd name="adj" fmla="val 8696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57A3A19-76D3-41C9-AFFD-91657D437A47}"/>
              </a:ext>
            </a:extLst>
          </p:cNvPr>
          <p:cNvSpPr>
            <a:spLocks noGrp="1"/>
          </p:cNvSpPr>
          <p:nvPr/>
        </p:nvSpPr>
        <p:spPr>
          <a:xfrm>
            <a:off x="876300" y="4876800"/>
            <a:ext cx="476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登録  navigator.credentials.create()</a:t>
            </a:r>
          </a:p>
          <a:p>
            <a:pPr algn="l">
              <a:lnSpc>
                <a:spcPct val="105000"/>
              </a:lnSpc>
              <a:buNone/>
              <a:defRPr sz="14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認証  navigator.credentials.get()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C6B1FE7-155E-4770-8CAE-3314A8B1A44F}"/>
              </a:ext>
            </a:extLst>
          </p:cNvPr>
          <p:cNvSpPr>
            <a:spLocks noGrp="1"/>
          </p:cNvSpPr>
          <p:nvPr/>
        </p:nvSpPr>
        <p:spPr>
          <a:xfrm>
            <a:off x="6724650" y="43243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FIDO 1.0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ED2AFCF-89BF-4C08-A4CD-7C2CE803A319}"/>
              </a:ext>
            </a:extLst>
          </p:cNvPr>
          <p:cNvSpPr>
            <a:spLocks noGrp="1"/>
          </p:cNvSpPr>
          <p:nvPr/>
        </p:nvSpPr>
        <p:spPr>
          <a:xfrm>
            <a:off x="6724650" y="4743450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4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UAF：パスワードレス</a:t>
            </a:r>
          </a:p>
          <a:p>
            <a:pPr algn="l">
              <a:lnSpc>
                <a:spcPct val="114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U2F：第2要素 → CTAP1として整理</a:t>
            </a:r>
          </a:p>
        </p:txBody>
      </p:sp>
    </p:spTree>
    <p:extLst>
      <p:ext uri="{BB962C8B-B14F-4D97-AF65-F5344CB8AC3E}">
        <p14:creationId xmlns:p14="http://schemas.microsoft.com/office/powerpoint/2010/main" val="49302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A85405F-AEA5-4ADC-BF8C-25333D3830AD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4622FF8-9EFF-4D68-B72F-C6CEB8AA60A0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06 / ARCHITECTURE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F7770DE-2E09-4C65-A8B2-492951CE4FA7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WebAuthnは、RPから認証器までを役割で分ける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D0826FF-7594-4EAB-B812-A7D1C998ACDF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1F2701-DCCB-485B-BF6D-495BEF1090DC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6" name="下矢印 5">
            <a:extLst>
              <a:ext uri="{FF2B5EF4-FFF2-40B4-BE49-F238E27FC236}">
                <a16:creationId xmlns:a16="http://schemas.microsoft.com/office/drawing/2014/main" id="{94F624D8-B932-4160-BE1D-92DB33D37262}"/>
              </a:ext>
            </a:extLst>
          </p:cNvPr>
          <p:cNvSpPr>
            <a:spLocks noGrp="1"/>
          </p:cNvSpPr>
          <p:nvPr/>
        </p:nvSpPr>
        <p:spPr>
          <a:xfrm>
            <a:off x="5905500" y="2400300"/>
            <a:ext cx="266700" cy="342900"/>
          </a:xfrm>
          <a:prstGeom prst="down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下矢印 6">
            <a:extLst>
              <a:ext uri="{FF2B5EF4-FFF2-40B4-BE49-F238E27FC236}">
                <a16:creationId xmlns:a16="http://schemas.microsoft.com/office/drawing/2014/main" id="{F80F62AC-BEC3-42C6-8421-E00C437F281A}"/>
              </a:ext>
            </a:extLst>
          </p:cNvPr>
          <p:cNvSpPr>
            <a:spLocks noGrp="1"/>
          </p:cNvSpPr>
          <p:nvPr/>
        </p:nvSpPr>
        <p:spPr>
          <a:xfrm>
            <a:off x="5905500" y="3562350"/>
            <a:ext cx="266700" cy="342900"/>
          </a:xfrm>
          <a:prstGeom prst="down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左矢印 7">
            <a:extLst>
              <a:ext uri="{FF2B5EF4-FFF2-40B4-BE49-F238E27FC236}">
                <a16:creationId xmlns:a16="http://schemas.microsoft.com/office/drawing/2014/main" id="{C887BB97-E431-4E59-88D1-99BB6042A9D2}"/>
              </a:ext>
            </a:extLst>
          </p:cNvPr>
          <p:cNvSpPr>
            <a:spLocks noGrp="1"/>
          </p:cNvSpPr>
          <p:nvPr/>
        </p:nvSpPr>
        <p:spPr>
          <a:xfrm>
            <a:off x="3181350" y="4953000"/>
            <a:ext cx="2190750" cy="190500"/>
          </a:xfrm>
          <a:prstGeom prst="lef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A20D503C-F637-4E1A-8339-97F6B0645474}"/>
              </a:ext>
            </a:extLst>
          </p:cNvPr>
          <p:cNvSpPr>
            <a:spLocks noGrp="1"/>
          </p:cNvSpPr>
          <p:nvPr/>
        </p:nvSpPr>
        <p:spPr>
          <a:xfrm>
            <a:off x="6819900" y="4953000"/>
            <a:ext cx="2190750" cy="1905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右矢印 9">
            <a:extLst>
              <a:ext uri="{FF2B5EF4-FFF2-40B4-BE49-F238E27FC236}">
                <a16:creationId xmlns:a16="http://schemas.microsoft.com/office/drawing/2014/main" id="{20310D02-FB0A-4E26-8883-C73B9707EAF6}"/>
              </a:ext>
            </a:extLst>
          </p:cNvPr>
          <p:cNvSpPr>
            <a:spLocks noGrp="1"/>
          </p:cNvSpPr>
          <p:nvPr/>
        </p:nvSpPr>
        <p:spPr>
          <a:xfrm>
            <a:off x="2266950" y="3352800"/>
            <a:ext cx="1714500" cy="2095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D99F283-9D24-4614-8D86-E99E2FD5887A}"/>
              </a:ext>
            </a:extLst>
          </p:cNvPr>
          <p:cNvSpPr>
            <a:spLocks noGrp="1"/>
          </p:cNvSpPr>
          <p:nvPr/>
        </p:nvSpPr>
        <p:spPr>
          <a:xfrm>
            <a:off x="6305550" y="2533650"/>
            <a:ext cx="1581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HTTPS / 独自API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96643F6-96B5-42A1-965F-87641FB9363D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WebAuthn API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E32B34DC-0E5E-4412-B47B-F174B2CB3C8E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1428750" cy="1428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B4C8C41-D409-4215-998F-47C0DA0D1E08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14287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利用者</a:t>
            </a:r>
          </a:p>
        </p:txBody>
      </p:sp>
      <p:sp>
        <p:nvSpPr>
          <p:cNvPr id="15" name="角丸四角形 14">
            <a:extLst>
              <a:ext uri="{FF2B5EF4-FFF2-40B4-BE49-F238E27FC236}">
                <a16:creationId xmlns:a16="http://schemas.microsoft.com/office/drawing/2014/main" id="{3CBF2707-2057-4247-9989-91105CF96C54}"/>
              </a:ext>
            </a:extLst>
          </p:cNvPr>
          <p:cNvSpPr>
            <a:spLocks noGrp="1"/>
          </p:cNvSpPr>
          <p:nvPr/>
        </p:nvSpPr>
        <p:spPr>
          <a:xfrm>
            <a:off x="4171950" y="1676400"/>
            <a:ext cx="38481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8696913-8D35-4F0C-B651-AB9F2495C2ED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 SERVER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AD4C023-340D-42B9-BF5B-2956F9A9BF34}"/>
              </a:ext>
            </a:extLst>
          </p:cNvPr>
          <p:cNvSpPr>
            <a:spLocks noGrp="1"/>
          </p:cNvSpPr>
          <p:nvPr/>
        </p:nvSpPr>
        <p:spPr>
          <a:xfrm>
            <a:off x="4400550" y="207645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challengeを発行し、公開鍵で検証</a:t>
            </a: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AE98267A-3E5C-4EF0-B725-6B84874651D9}"/>
              </a:ext>
            </a:extLst>
          </p:cNvPr>
          <p:cNvSpPr>
            <a:spLocks noGrp="1"/>
          </p:cNvSpPr>
          <p:nvPr/>
        </p:nvSpPr>
        <p:spPr>
          <a:xfrm>
            <a:off x="4171950" y="2838450"/>
            <a:ext cx="38481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0F9D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26FB3FFB-FA87-4E6A-B8E9-0A29716EC55B}"/>
              </a:ext>
            </a:extLst>
          </p:cNvPr>
          <p:cNvSpPr>
            <a:spLocks noGrp="1"/>
          </p:cNvSpPr>
          <p:nvPr/>
        </p:nvSpPr>
        <p:spPr>
          <a:xfrm>
            <a:off x="4400550" y="297180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WEB APP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DC0E1A-A1B0-4765-B260-7A54631455A7}"/>
              </a:ext>
            </a:extLst>
          </p:cNvPr>
          <p:cNvSpPr>
            <a:spLocks noGrp="1"/>
          </p:cNvSpPr>
          <p:nvPr/>
        </p:nvSpPr>
        <p:spPr>
          <a:xfrm>
            <a:off x="4400550" y="323850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サービス独自APIとWebAuthn APIを接続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CF55802A-5F2B-4F40-94C0-00371ABA4055}"/>
              </a:ext>
            </a:extLst>
          </p:cNvPr>
          <p:cNvSpPr>
            <a:spLocks noGrp="1"/>
          </p:cNvSpPr>
          <p:nvPr/>
        </p:nvSpPr>
        <p:spPr>
          <a:xfrm>
            <a:off x="4171950" y="4000500"/>
            <a:ext cx="38481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8575">
            <a:solidFill>
              <a:srgbClr val="2C40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1883E4E-E569-4A8B-B9C5-95D26F3E5A11}"/>
              </a:ext>
            </a:extLst>
          </p:cNvPr>
          <p:cNvSpPr>
            <a:spLocks noGrp="1"/>
          </p:cNvSpPr>
          <p:nvPr/>
        </p:nvSpPr>
        <p:spPr>
          <a:xfrm>
            <a:off x="4400550" y="413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BROWSER / OS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368DC13-03DF-47DF-B906-91E56C587657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3352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認証器を探索・選択し、データを変換</a:t>
            </a: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3DE8492F-7EAA-4D71-926F-2546C998248F}"/>
              </a:ext>
            </a:extLst>
          </p:cNvPr>
          <p:cNvSpPr>
            <a:spLocks noGrp="1"/>
          </p:cNvSpPr>
          <p:nvPr/>
        </p:nvSpPr>
        <p:spPr>
          <a:xfrm>
            <a:off x="876300" y="5314950"/>
            <a:ext cx="4000500" cy="742950"/>
          </a:xfrm>
          <a:prstGeom prst="roundRect">
            <a:avLst>
              <a:gd name="adj" fmla="val 10256"/>
            </a:avLst>
          </a:prstGeom>
          <a:solidFill>
            <a:srgbClr val="F9EFCF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0F17AA6-B130-477D-890E-7DF942DC0C2A}"/>
              </a:ext>
            </a:extLst>
          </p:cNvPr>
          <p:cNvSpPr>
            <a:spLocks noGrp="1"/>
          </p:cNvSpPr>
          <p:nvPr/>
        </p:nvSpPr>
        <p:spPr>
          <a:xfrm>
            <a:off x="1104900" y="546735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プラットフォーム認証器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4B0BC66D-EEED-480B-B411-19C4B386569E}"/>
              </a:ext>
            </a:extLst>
          </p:cNvPr>
          <p:cNvSpPr>
            <a:spLocks noGrp="1"/>
          </p:cNvSpPr>
          <p:nvPr/>
        </p:nvSpPr>
        <p:spPr>
          <a:xfrm>
            <a:off x="1028700" y="5753100"/>
            <a:ext cx="3695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1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端末内 / Windows Hello・iCloudキーチェーン</a:t>
            </a: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CBC94827-331F-4F44-AC70-23C9545BF374}"/>
              </a:ext>
            </a:extLst>
          </p:cNvPr>
          <p:cNvSpPr>
            <a:spLocks noGrp="1"/>
          </p:cNvSpPr>
          <p:nvPr/>
        </p:nvSpPr>
        <p:spPr>
          <a:xfrm>
            <a:off x="7315200" y="5314950"/>
            <a:ext cx="4000500" cy="742950"/>
          </a:xfrm>
          <a:prstGeom prst="roundRect">
            <a:avLst>
              <a:gd name="adj" fmla="val 10256"/>
            </a:avLst>
          </a:prstGeom>
          <a:solidFill>
            <a:srgbClr val="E6EDFC"/>
          </a:solidFill>
          <a:ln w="19050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B3FCAB85-E489-4CA3-917A-D31BE20A945F}"/>
              </a:ext>
            </a:extLst>
          </p:cNvPr>
          <p:cNvSpPr>
            <a:spLocks noGrp="1"/>
          </p:cNvSpPr>
          <p:nvPr/>
        </p:nvSpPr>
        <p:spPr>
          <a:xfrm>
            <a:off x="7543800" y="5467350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5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ローミング認証器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DCAD4991-12F5-4B25-9A8D-1CF17F6467B0}"/>
              </a:ext>
            </a:extLst>
          </p:cNvPr>
          <p:cNvSpPr>
            <a:spLocks noGrp="1"/>
          </p:cNvSpPr>
          <p:nvPr/>
        </p:nvSpPr>
        <p:spPr>
          <a:xfrm>
            <a:off x="7543800" y="5753100"/>
            <a:ext cx="3543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CTAP  /  セキュリティキー・別端末</a:t>
            </a:r>
          </a:p>
        </p:txBody>
      </p:sp>
    </p:spTree>
    <p:extLst>
      <p:ext uri="{BB962C8B-B14F-4D97-AF65-F5344CB8AC3E}">
        <p14:creationId xmlns:p14="http://schemas.microsoft.com/office/powerpoint/2010/main" val="1867584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24788BF-8A68-43EA-93BC-8212DD0B8640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3BEF57-7E31-4395-95FA-7492CA687B6D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07 / AUTHENTICATORS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06ACF40-882A-4734-A201-43620FB92AD7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認証器の場所は違っても、秘密鍵を守る役割は同じ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C2C2AFD-BE9D-4861-A121-CBF068A2B12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F669A27-1380-4681-8CC1-06A9AB5EFE65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4CF597F-235F-4DE6-B086-7C07152F4C57}"/>
              </a:ext>
            </a:extLst>
          </p:cNvPr>
          <p:cNvSpPr>
            <a:spLocks noGrp="1"/>
          </p:cNvSpPr>
          <p:nvPr/>
        </p:nvSpPr>
        <p:spPr>
          <a:xfrm>
            <a:off x="6019800" y="1733550"/>
            <a:ext cx="9525" cy="39624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4B389822-BD89-4F21-8A59-801425F5C57E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F9EFC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6FED290-857D-443C-946E-5B1028E01104}"/>
              </a:ext>
            </a:extLst>
          </p:cNvPr>
          <p:cNvSpPr>
            <a:spLocks noGrp="1"/>
          </p:cNvSpPr>
          <p:nvPr/>
        </p:nvSpPr>
        <p:spPr>
          <a:xfrm>
            <a:off x="685800" y="1743075"/>
            <a:ext cx="1143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同じ端末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651C600-DC32-4543-8DFE-F5D7985821E7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プラットフォーム認証器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CA7DD33D-EAC0-4A15-862B-19535681593B}"/>
              </a:ext>
            </a:extLst>
          </p:cNvPr>
          <p:cNvSpPr>
            <a:spLocks noGrp="1"/>
          </p:cNvSpPr>
          <p:nvPr/>
        </p:nvSpPr>
        <p:spPr>
          <a:xfrm>
            <a:off x="1009650" y="3048000"/>
            <a:ext cx="1428750" cy="1428750"/>
          </a:xfrm>
          <a:prstGeom prst="ellipse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DB62DB3-84C9-4C21-B206-7D76DFB0BA85}"/>
              </a:ext>
            </a:extLst>
          </p:cNvPr>
          <p:cNvSpPr>
            <a:spLocks noGrp="1"/>
          </p:cNvSpPr>
          <p:nvPr/>
        </p:nvSpPr>
        <p:spPr>
          <a:xfrm>
            <a:off x="1009650" y="3067050"/>
            <a:ext cx="14287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端末内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148FD37-D3DF-4EA2-A13D-B62C310945E7}"/>
              </a:ext>
            </a:extLst>
          </p:cNvPr>
          <p:cNvSpPr>
            <a:spLocks noGrp="1"/>
          </p:cNvSpPr>
          <p:nvPr/>
        </p:nvSpPr>
        <p:spPr>
          <a:xfrm>
            <a:off x="2914650" y="3124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ブラウザ / OS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3839FF9-1A22-4581-BBBD-1129C6BE570B}"/>
              </a:ext>
            </a:extLst>
          </p:cNvPr>
          <p:cNvSpPr>
            <a:spLocks noGrp="1"/>
          </p:cNvSpPr>
          <p:nvPr/>
        </p:nvSpPr>
        <p:spPr>
          <a:xfrm>
            <a:off x="2914650" y="3581400"/>
            <a:ext cx="2571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端末内部の経路で利用</a:t>
            </a:r>
          </a:p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Windows Hello</a:t>
            </a:r>
          </a:p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iCloudキーチェーン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D4829C64-E84E-4713-8BD0-10C20F4BFE74}"/>
              </a:ext>
            </a:extLst>
          </p:cNvPr>
          <p:cNvSpPr>
            <a:spLocks noGrp="1"/>
          </p:cNvSpPr>
          <p:nvPr/>
        </p:nvSpPr>
        <p:spPr>
          <a:xfrm>
            <a:off x="6438900" y="1733550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E6ED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D930BE7-4AA6-46D7-8041-E9F844D3C88F}"/>
              </a:ext>
            </a:extLst>
          </p:cNvPr>
          <p:cNvSpPr>
            <a:spLocks noGrp="1"/>
          </p:cNvSpPr>
          <p:nvPr/>
        </p:nvSpPr>
        <p:spPr>
          <a:xfrm>
            <a:off x="6438900" y="1743075"/>
            <a:ext cx="1143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別の機器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5C1A5B-1150-4073-9F0F-F6327A59A061}"/>
              </a:ext>
            </a:extLst>
          </p:cNvPr>
          <p:cNvSpPr>
            <a:spLocks noGrp="1"/>
          </p:cNvSpPr>
          <p:nvPr/>
        </p:nvSpPr>
        <p:spPr>
          <a:xfrm>
            <a:off x="6438900" y="22669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ローミング認証器</a:t>
            </a:r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11491ACB-26EC-45DC-BD27-9C0E32D840B1}"/>
              </a:ext>
            </a:extLst>
          </p:cNvPr>
          <p:cNvSpPr>
            <a:spLocks noGrp="1"/>
          </p:cNvSpPr>
          <p:nvPr/>
        </p:nvSpPr>
        <p:spPr>
          <a:xfrm>
            <a:off x="8534400" y="3219450"/>
            <a:ext cx="857250" cy="20955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8E4060F-7606-4D3E-984E-C24AEE45939F}"/>
              </a:ext>
            </a:extLst>
          </p:cNvPr>
          <p:cNvSpPr>
            <a:spLocks noGrp="1"/>
          </p:cNvSpPr>
          <p:nvPr/>
        </p:nvSpPr>
        <p:spPr>
          <a:xfrm>
            <a:off x="6438900" y="31242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ブラウザ / OS</a:t>
            </a:r>
          </a:p>
        </p:txBody>
      </p:sp>
      <p:sp>
        <p:nvSpPr>
          <p:cNvPr id="19" name="円/楕円 18">
            <a:extLst>
              <a:ext uri="{FF2B5EF4-FFF2-40B4-BE49-F238E27FC236}">
                <a16:creationId xmlns:a16="http://schemas.microsoft.com/office/drawing/2014/main" id="{E0F65609-FBB6-4E16-87C2-C49809BF6675}"/>
              </a:ext>
            </a:extLst>
          </p:cNvPr>
          <p:cNvSpPr>
            <a:spLocks noGrp="1"/>
          </p:cNvSpPr>
          <p:nvPr/>
        </p:nvSpPr>
        <p:spPr>
          <a:xfrm>
            <a:off x="9601200" y="2876550"/>
            <a:ext cx="1428750" cy="1428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AC85FDA-070D-4E72-8B4B-5877E1F3774D}"/>
              </a:ext>
            </a:extLst>
          </p:cNvPr>
          <p:cNvSpPr>
            <a:spLocks noGrp="1"/>
          </p:cNvSpPr>
          <p:nvPr/>
        </p:nvSpPr>
        <p:spPr>
          <a:xfrm>
            <a:off x="9601200" y="2895600"/>
            <a:ext cx="1428750" cy="1390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外部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1392942-FF95-4A45-8EC9-260F97D047DC}"/>
              </a:ext>
            </a:extLst>
          </p:cNvPr>
          <p:cNvSpPr>
            <a:spLocks noGrp="1"/>
          </p:cNvSpPr>
          <p:nvPr/>
        </p:nvSpPr>
        <p:spPr>
          <a:xfrm>
            <a:off x="6438900" y="3695700"/>
            <a:ext cx="2857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CTAPで接続</a:t>
            </a:r>
          </a:p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USB・NFC・BLE・hybrid</a:t>
            </a:r>
          </a:p>
          <a:p>
            <a:pPr algn="l">
              <a:lnSpc>
                <a:spcPct val="116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YubiKey・スマートフォン</a:t>
            </a:r>
          </a:p>
        </p:txBody>
      </p:sp>
      <p:sp>
        <p:nvSpPr>
          <p:cNvPr id="22" name="角丸四角形 21">
            <a:extLst>
              <a:ext uri="{FF2B5EF4-FFF2-40B4-BE49-F238E27FC236}">
                <a16:creationId xmlns:a16="http://schemas.microsoft.com/office/drawing/2014/main" id="{DBE841A5-30CC-4698-98BD-8C8E11801CFA}"/>
              </a:ext>
            </a:extLst>
          </p:cNvPr>
          <p:cNvSpPr>
            <a:spLocks noGrp="1"/>
          </p:cNvSpPr>
          <p:nvPr/>
        </p:nvSpPr>
        <p:spPr>
          <a:xfrm>
            <a:off x="685800" y="5124450"/>
            <a:ext cx="10820400" cy="800100"/>
          </a:xfrm>
          <a:prstGeom prst="roundRect">
            <a:avLst>
              <a:gd name="adj" fmla="val 9524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04DFDBE2-7D53-469D-BD8D-0020996FAE2B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共通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4963E6A-A761-454F-A672-F1FB8D486539}"/>
              </a:ext>
            </a:extLst>
          </p:cNvPr>
          <p:cNvSpPr>
            <a:spLocks noGrp="1"/>
          </p:cNvSpPr>
          <p:nvPr/>
        </p:nvSpPr>
        <p:spPr>
          <a:xfrm>
            <a:off x="1847850" y="5314950"/>
            <a:ext cx="904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本人確認後に秘密鍵を使って署名し、秘密鍵そのものは外へ出さない</a:t>
            </a:r>
          </a:p>
        </p:txBody>
      </p:sp>
    </p:spTree>
    <p:extLst>
      <p:ext uri="{BB962C8B-B14F-4D97-AF65-F5344CB8AC3E}">
        <p14:creationId xmlns:p14="http://schemas.microsoft.com/office/powerpoint/2010/main" val="1650235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25568AC9-CC66-4841-A26B-75DC57CAF00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8AB4310-3478-4C62-ABD1-975C0F1F52C5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08 / REGISTRATION FLOW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CC22423-10B7-4980-9B16-5D8C5E56ED65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登録は、4者の間でオプションと検証結果を往復する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203608-FFF8-454D-97BB-067708232C6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F0135B-AFE5-4538-BE7F-3293C4095ABC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366DC98-F109-4863-8CB1-8DF0BCC138B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鍵ペアは認証器で生成し、RPサーバーにはCredential IDと公開鍵だけを保存する。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D119CB-3C3E-4F50-A6D0-D7DFDC1D12D6}"/>
              </a:ext>
            </a:extLst>
          </p:cNvPr>
          <p:cNvSpPr>
            <a:spLocks noGrp="1"/>
          </p:cNvSpPr>
          <p:nvPr/>
        </p:nvSpPr>
        <p:spPr>
          <a:xfrm>
            <a:off x="1590675" y="2171700"/>
            <a:ext cx="19050" cy="36957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41980C9-372F-40D9-A09E-D651DF5D4938}"/>
              </a:ext>
            </a:extLst>
          </p:cNvPr>
          <p:cNvSpPr>
            <a:spLocks noGrp="1"/>
          </p:cNvSpPr>
          <p:nvPr/>
        </p:nvSpPr>
        <p:spPr>
          <a:xfrm>
            <a:off x="4276725" y="2171700"/>
            <a:ext cx="19050" cy="36957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B931124-A7E8-48B0-AE89-A8650B251AA3}"/>
              </a:ext>
            </a:extLst>
          </p:cNvPr>
          <p:cNvSpPr>
            <a:spLocks noGrp="1"/>
          </p:cNvSpPr>
          <p:nvPr/>
        </p:nvSpPr>
        <p:spPr>
          <a:xfrm>
            <a:off x="6962775" y="2171700"/>
            <a:ext cx="19050" cy="36957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B19A38-7A08-4BE2-AC5E-1F7538673F99}"/>
              </a:ext>
            </a:extLst>
          </p:cNvPr>
          <p:cNvSpPr>
            <a:spLocks noGrp="1"/>
          </p:cNvSpPr>
          <p:nvPr/>
        </p:nvSpPr>
        <p:spPr>
          <a:xfrm>
            <a:off x="9648825" y="2171700"/>
            <a:ext cx="19050" cy="36957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右矢印 10">
            <a:extLst>
              <a:ext uri="{FF2B5EF4-FFF2-40B4-BE49-F238E27FC236}">
                <a16:creationId xmlns:a16="http://schemas.microsoft.com/office/drawing/2014/main" id="{CA28B6BD-070A-4C90-B7A5-6D3555E615ED}"/>
              </a:ext>
            </a:extLst>
          </p:cNvPr>
          <p:cNvSpPr>
            <a:spLocks noGrp="1"/>
          </p:cNvSpPr>
          <p:nvPr/>
        </p:nvSpPr>
        <p:spPr>
          <a:xfrm>
            <a:off x="1590675" y="2400300"/>
            <a:ext cx="2686050" cy="114300"/>
          </a:xfrm>
          <a:prstGeom prst="rightArrow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9FEB34F-936C-45E1-8404-7ACFAEEC324D}"/>
              </a:ext>
            </a:extLst>
          </p:cNvPr>
          <p:cNvSpPr>
            <a:spLocks noGrp="1"/>
          </p:cNvSpPr>
          <p:nvPr/>
        </p:nvSpPr>
        <p:spPr>
          <a:xfrm>
            <a:off x="1666875" y="21907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1  GET /registration/options</a:t>
            </a:r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81200378-8388-4661-9E0F-B00876370116}"/>
              </a:ext>
            </a:extLst>
          </p:cNvPr>
          <p:cNvSpPr>
            <a:spLocks noGrp="1"/>
          </p:cNvSpPr>
          <p:nvPr/>
        </p:nvSpPr>
        <p:spPr>
          <a:xfrm>
            <a:off x="4276725" y="2819400"/>
            <a:ext cx="5372100" cy="114300"/>
          </a:xfrm>
          <a:prstGeom prst="rightArrow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27B298A-C1E1-4801-9DC8-0E3F6D9134F8}"/>
              </a:ext>
            </a:extLst>
          </p:cNvPr>
          <p:cNvSpPr>
            <a:spLocks noGrp="1"/>
          </p:cNvSpPr>
          <p:nvPr/>
        </p:nvSpPr>
        <p:spPr>
          <a:xfrm>
            <a:off x="4962525" y="2609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2  challengeを一時保存</a:t>
            </a:r>
          </a:p>
        </p:txBody>
      </p:sp>
      <p:sp>
        <p:nvSpPr>
          <p:cNvPr id="15" name="左矢印 14">
            <a:extLst>
              <a:ext uri="{FF2B5EF4-FFF2-40B4-BE49-F238E27FC236}">
                <a16:creationId xmlns:a16="http://schemas.microsoft.com/office/drawing/2014/main" id="{C99D3B28-B02A-48D9-AED6-589C21303A50}"/>
              </a:ext>
            </a:extLst>
          </p:cNvPr>
          <p:cNvSpPr>
            <a:spLocks noGrp="1"/>
          </p:cNvSpPr>
          <p:nvPr/>
        </p:nvSpPr>
        <p:spPr>
          <a:xfrm>
            <a:off x="1590675" y="3238500"/>
            <a:ext cx="2686050" cy="114300"/>
          </a:xfrm>
          <a:prstGeom prst="lef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F782E8-C1EF-4348-A2CE-6E5F82429F7C}"/>
              </a:ext>
            </a:extLst>
          </p:cNvPr>
          <p:cNvSpPr>
            <a:spLocks noGrp="1"/>
          </p:cNvSpPr>
          <p:nvPr/>
        </p:nvSpPr>
        <p:spPr>
          <a:xfrm>
            <a:off x="1666875" y="30289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3  CreationOptionsJSON</a:t>
            </a:r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608E8CE0-477A-470B-A6B1-7B656F2A0CD4}"/>
              </a:ext>
            </a:extLst>
          </p:cNvPr>
          <p:cNvSpPr>
            <a:spLocks noGrp="1"/>
          </p:cNvSpPr>
          <p:nvPr/>
        </p:nvSpPr>
        <p:spPr>
          <a:xfrm>
            <a:off x="1590675" y="3657600"/>
            <a:ext cx="5372100" cy="114300"/>
          </a:xfrm>
          <a:prstGeom prst="righ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98C6165-E73F-44C4-BD4F-33005D621171}"/>
              </a:ext>
            </a:extLst>
          </p:cNvPr>
          <p:cNvSpPr>
            <a:spLocks noGrp="1"/>
          </p:cNvSpPr>
          <p:nvPr/>
        </p:nvSpPr>
        <p:spPr>
          <a:xfrm>
            <a:off x="2276475" y="3448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4  startRegistration({ optionsJSON })</a:t>
            </a:r>
          </a:p>
        </p:txBody>
      </p:sp>
      <p:sp>
        <p:nvSpPr>
          <p:cNvPr id="19" name="左矢印 18">
            <a:extLst>
              <a:ext uri="{FF2B5EF4-FFF2-40B4-BE49-F238E27FC236}">
                <a16:creationId xmlns:a16="http://schemas.microsoft.com/office/drawing/2014/main" id="{8D89BE64-09AB-41FC-B7E1-03678E64A343}"/>
              </a:ext>
            </a:extLst>
          </p:cNvPr>
          <p:cNvSpPr>
            <a:spLocks noGrp="1"/>
          </p:cNvSpPr>
          <p:nvPr/>
        </p:nvSpPr>
        <p:spPr>
          <a:xfrm>
            <a:off x="1590675" y="4076700"/>
            <a:ext cx="5372100" cy="114300"/>
          </a:xfrm>
          <a:prstGeom prst="leftArrow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1D0863D-5B0F-4B75-AC86-7E68CB684E13}"/>
              </a:ext>
            </a:extLst>
          </p:cNvPr>
          <p:cNvSpPr>
            <a:spLocks noGrp="1"/>
          </p:cNvSpPr>
          <p:nvPr/>
        </p:nvSpPr>
        <p:spPr>
          <a:xfrm>
            <a:off x="2276475" y="38671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8B6810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8B6810"/>
                </a:solidFill>
                <a:latin typeface="Menlo"/>
                <a:ea typeface="Menlo"/>
                <a:cs typeface="Menlo"/>
              </a:rPr>
              <a:t>5  RegistrationResponseJSON</a:t>
            </a:r>
          </a:p>
        </p:txBody>
      </p:sp>
      <p:sp>
        <p:nvSpPr>
          <p:cNvPr id="21" name="右矢印 20">
            <a:extLst>
              <a:ext uri="{FF2B5EF4-FFF2-40B4-BE49-F238E27FC236}">
                <a16:creationId xmlns:a16="http://schemas.microsoft.com/office/drawing/2014/main" id="{31F45D7A-9594-4CE6-ACD5-1B39B1323821}"/>
              </a:ext>
            </a:extLst>
          </p:cNvPr>
          <p:cNvSpPr>
            <a:spLocks noGrp="1"/>
          </p:cNvSpPr>
          <p:nvPr/>
        </p:nvSpPr>
        <p:spPr>
          <a:xfrm>
            <a:off x="1590675" y="4495800"/>
            <a:ext cx="2686050" cy="114300"/>
          </a:xfrm>
          <a:prstGeom prst="rightArrow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FB476CE-02C2-4980-93D5-8708BCA44FEC}"/>
              </a:ext>
            </a:extLst>
          </p:cNvPr>
          <p:cNvSpPr>
            <a:spLocks noGrp="1"/>
          </p:cNvSpPr>
          <p:nvPr/>
        </p:nvSpPr>
        <p:spPr>
          <a:xfrm>
            <a:off x="1666875" y="42862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6  POST /registration/verify</a:t>
            </a:r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64EB1E5E-D4DA-4F56-AAC5-2EAB878320B3}"/>
              </a:ext>
            </a:extLst>
          </p:cNvPr>
          <p:cNvSpPr>
            <a:spLocks noGrp="1"/>
          </p:cNvSpPr>
          <p:nvPr/>
        </p:nvSpPr>
        <p:spPr>
          <a:xfrm>
            <a:off x="4276725" y="4914900"/>
            <a:ext cx="5372100" cy="114300"/>
          </a:xfrm>
          <a:prstGeom prst="rightArrow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978050A-85DD-47C0-8775-B012521FC47B}"/>
              </a:ext>
            </a:extLst>
          </p:cNvPr>
          <p:cNvSpPr>
            <a:spLocks noGrp="1"/>
          </p:cNvSpPr>
          <p:nvPr/>
        </p:nvSpPr>
        <p:spPr>
          <a:xfrm>
            <a:off x="4962525" y="47053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7  Credential ID・公開鍵・counterを保存</a:t>
            </a:r>
          </a:p>
        </p:txBody>
      </p:sp>
      <p:sp>
        <p:nvSpPr>
          <p:cNvPr id="25" name="左矢印 24">
            <a:extLst>
              <a:ext uri="{FF2B5EF4-FFF2-40B4-BE49-F238E27FC236}">
                <a16:creationId xmlns:a16="http://schemas.microsoft.com/office/drawing/2014/main" id="{95274429-91C8-44CA-852B-BF5E12D03EF2}"/>
              </a:ext>
            </a:extLst>
          </p:cNvPr>
          <p:cNvSpPr>
            <a:spLocks noGrp="1"/>
          </p:cNvSpPr>
          <p:nvPr/>
        </p:nvSpPr>
        <p:spPr>
          <a:xfrm>
            <a:off x="1590675" y="5334000"/>
            <a:ext cx="2686050" cy="114300"/>
          </a:xfrm>
          <a:prstGeom prst="lef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5C41D95E-D74D-4DE5-993F-2FE1A025481B}"/>
              </a:ext>
            </a:extLst>
          </p:cNvPr>
          <p:cNvSpPr>
            <a:spLocks noGrp="1"/>
          </p:cNvSpPr>
          <p:nvPr/>
        </p:nvSpPr>
        <p:spPr>
          <a:xfrm>
            <a:off x="1666875" y="51244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8  { verified: true }</a:t>
            </a: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05E6C53B-AE69-4FD3-9DDA-C4580D599F5C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809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0F9D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6E4C7E4-E0EB-4572-86D8-4530E3988B5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ブラウザ / Webアプリ</a:t>
            </a:r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5CF4EAFF-D6A0-49B2-B347-B0E2256DB19A}"/>
              </a:ext>
            </a:extLst>
          </p:cNvPr>
          <p:cNvSpPr>
            <a:spLocks noGrp="1"/>
          </p:cNvSpPr>
          <p:nvPr/>
        </p:nvSpPr>
        <p:spPr>
          <a:xfrm>
            <a:off x="3371850" y="1657350"/>
            <a:ext cx="1809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BB6CFBDB-CD09-4C87-B5B0-416BB5D5C3AE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1962D7A0-8851-4B61-852F-AE27DC36F9EC}"/>
              </a:ext>
            </a:extLst>
          </p:cNvPr>
          <p:cNvSpPr>
            <a:spLocks noGrp="1"/>
          </p:cNvSpPr>
          <p:nvPr/>
        </p:nvSpPr>
        <p:spPr>
          <a:xfrm>
            <a:off x="6057900" y="1657350"/>
            <a:ext cx="1809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9A70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C1D7F7B4-CAE2-450D-BFBF-91DE7F0FFE87}"/>
              </a:ext>
            </a:extLst>
          </p:cNvPr>
          <p:cNvSpPr>
            <a:spLocks noGrp="1"/>
          </p:cNvSpPr>
          <p:nvPr/>
        </p:nvSpPr>
        <p:spPr>
          <a:xfrm>
            <a:off x="6057900" y="16764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2CCB14C9-2616-420D-BE76-6003EB395FF4}"/>
              </a:ext>
            </a:extLst>
          </p:cNvPr>
          <p:cNvSpPr>
            <a:spLocks noGrp="1"/>
          </p:cNvSpPr>
          <p:nvPr/>
        </p:nvSpPr>
        <p:spPr>
          <a:xfrm>
            <a:off x="8743950" y="1657350"/>
            <a:ext cx="1809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2C40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EF7B7B6D-3554-4546-A62C-3A55767D3E78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CD7C3593-C03E-4EA9-A8D3-E34C06FB6572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400050"/>
          </a:xfrm>
          <a:prstGeom prst="roundRect">
            <a:avLst>
              <a:gd name="adj" fmla="val 19048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F4D728B-BB09-4D66-BC1F-132097AE3D4B}"/>
              </a:ext>
            </a:extLst>
          </p:cNvPr>
          <p:cNvSpPr>
            <a:spLocks noGrp="1"/>
          </p:cNvSpPr>
          <p:nvPr/>
        </p:nvSpPr>
        <p:spPr>
          <a:xfrm>
            <a:off x="876300" y="5838825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直接APIなら 4 = navigator.credentials.create({ publicKey })。SimpleWebAuthnはJSON変換も担当する。</a:t>
            </a:r>
          </a:p>
        </p:txBody>
      </p:sp>
    </p:spTree>
    <p:extLst>
      <p:ext uri="{BB962C8B-B14F-4D97-AF65-F5344CB8AC3E}">
        <p14:creationId xmlns:p14="http://schemas.microsoft.com/office/powerpoint/2010/main" val="161881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3326070-A6A4-47D3-8F56-EDE7818AEEA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E4DB67B-F859-4572-A89A-A5DC1BC6F1F3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09 / DATA BOUNDARY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75BA44-1738-41AC-8B71-472E4FD7151B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HTTPでは文字列、WebAuthn APIではバイナリを扱う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14AA917-CF4D-42BF-A273-14A311A08E6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1F2C525-D1D8-4BEA-A8D7-329300AB13FF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7E55594-D4AD-4697-9154-2658D5D3B6BE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@simplewebauthn/browserは、このJSONとバイナリの境界をラップする。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494C0EBD-490E-4B90-A82B-F505584F0609}"/>
              </a:ext>
            </a:extLst>
          </p:cNvPr>
          <p:cNvSpPr>
            <a:spLocks noGrp="1"/>
          </p:cNvSpPr>
          <p:nvPr/>
        </p:nvSpPr>
        <p:spPr>
          <a:xfrm>
            <a:off x="3562350" y="2876550"/>
            <a:ext cx="78105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FE384F86-607A-4E1A-801D-98A8D7C7E5F8}"/>
              </a:ext>
            </a:extLst>
          </p:cNvPr>
          <p:cNvSpPr>
            <a:spLocks noGrp="1"/>
          </p:cNvSpPr>
          <p:nvPr/>
        </p:nvSpPr>
        <p:spPr>
          <a:xfrm>
            <a:off x="7867650" y="2876550"/>
            <a:ext cx="78105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FD0DCAB5-3278-47FE-B241-B374311F3413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2857500" cy="2038350"/>
          </a:xfrm>
          <a:prstGeom prst="roundRect">
            <a:avLst>
              <a:gd name="adj" fmla="val 3738"/>
            </a:avLst>
          </a:prstGeom>
          <a:solidFill>
            <a:srgbClr val="E6EDFC"/>
          </a:solidFill>
          <a:ln w="19050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D8B9FFF-44C4-45A5-BC86-D0B17E184236}"/>
              </a:ext>
            </a:extLst>
          </p:cNvPr>
          <p:cNvSpPr>
            <a:spLocks noGrp="1"/>
          </p:cNvSpPr>
          <p:nvPr/>
        </p:nvSpPr>
        <p:spPr>
          <a:xfrm>
            <a:off x="952500" y="230505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 / HTTP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74D6B51-6B31-4B60-B105-4F9CC63884C3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23241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275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CreationOptionsJSON</a:t>
            </a:r>
          </a:p>
          <a:p>
            <a:pPr algn="ctr">
              <a:lnSpc>
                <a:spcPct val="108000"/>
              </a:lnSpc>
              <a:buNone/>
              <a:defRPr sz="1275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RequestOptionsJSON</a:t>
            </a:r>
          </a:p>
          <a:p>
            <a:endParaRPr sz="1275" b="0" i="0">
              <a:solidFill>
                <a:srgbClr val="102A33"/>
              </a:solidFill>
              <a:latin typeface="Menlo"/>
              <a:ea typeface="Menlo"/>
              <a:cs typeface="Menlo"/>
            </a:endParaRPr>
          </a:p>
          <a:p>
            <a:pPr algn="ctr">
              <a:lnSpc>
                <a:spcPct val="108000"/>
              </a:lnSpc>
              <a:buNone/>
              <a:defRPr sz="1275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challenge・IDは</a:t>
            </a:r>
          </a:p>
          <a:p>
            <a:pPr algn="ctr">
              <a:lnSpc>
                <a:spcPct val="108000"/>
              </a:lnSpc>
              <a:buNone/>
              <a:defRPr sz="1275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Base64URL文字列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9EA791B4-BDEC-441C-A1EB-A4FD43B812C2}"/>
              </a:ext>
            </a:extLst>
          </p:cNvPr>
          <p:cNvSpPr>
            <a:spLocks noGrp="1"/>
          </p:cNvSpPr>
          <p:nvPr/>
        </p:nvSpPr>
        <p:spPr>
          <a:xfrm>
            <a:off x="4362450" y="1866900"/>
            <a:ext cx="3486150" cy="2419350"/>
          </a:xfrm>
          <a:prstGeom prst="roundRect">
            <a:avLst>
              <a:gd name="adj" fmla="val 3150"/>
            </a:avLst>
          </a:prstGeom>
          <a:solidFill>
            <a:srgbClr val="DFF3EF"/>
          </a:solidFill>
          <a:ln w="28575">
            <a:solidFill>
              <a:srgbClr val="0F9D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D820DE3-AFD6-4320-A600-7D3C05144529}"/>
              </a:ext>
            </a:extLst>
          </p:cNvPr>
          <p:cNvSpPr>
            <a:spLocks noGrp="1"/>
          </p:cNvSpPr>
          <p:nvPr/>
        </p:nvSpPr>
        <p:spPr>
          <a:xfrm>
            <a:off x="4629150" y="21336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65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@simplewebauthn/browser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0C67CAE-1AE1-45AA-8DF5-281F292A0A13}"/>
              </a:ext>
            </a:extLst>
          </p:cNvPr>
          <p:cNvSpPr>
            <a:spLocks noGrp="1"/>
          </p:cNvSpPr>
          <p:nvPr/>
        </p:nvSpPr>
        <p:spPr>
          <a:xfrm>
            <a:off x="4591050" y="2514600"/>
            <a:ext cx="302895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startRegistration({</a:t>
            </a:r>
          </a:p>
          <a:p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  optionsJSON</a:t>
            </a:r>
          </a:p>
          <a:p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})</a:t>
            </a:r>
          </a:p>
          <a:p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startAuthentication({</a:t>
            </a:r>
          </a:p>
          <a:p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  optionsJSON</a:t>
            </a:r>
          </a:p>
          <a:p>
            <a:pPr algn="ctr">
              <a:lnSpc>
                <a:spcPct val="100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9C614E7-9FB3-4386-9231-FFFC224D58B0}"/>
              </a:ext>
            </a:extLst>
          </p:cNvPr>
          <p:cNvSpPr>
            <a:spLocks noGrp="1"/>
          </p:cNvSpPr>
          <p:nvPr/>
        </p:nvSpPr>
        <p:spPr>
          <a:xfrm>
            <a:off x="4629150" y="36766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4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変換・API呼び出し・JSON化</a:t>
            </a:r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1C8274EB-FAEE-40E3-82A7-AB656517615C}"/>
              </a:ext>
            </a:extLst>
          </p:cNvPr>
          <p:cNvSpPr>
            <a:spLocks noGrp="1"/>
          </p:cNvSpPr>
          <p:nvPr/>
        </p:nvSpPr>
        <p:spPr>
          <a:xfrm>
            <a:off x="8667750" y="2057400"/>
            <a:ext cx="2838450" cy="2038350"/>
          </a:xfrm>
          <a:prstGeom prst="roundRect">
            <a:avLst>
              <a:gd name="adj" fmla="val 3738"/>
            </a:avLst>
          </a:prstGeom>
          <a:solidFill>
            <a:srgbClr val="F9EFCF"/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63B867C-DB97-43C8-A9F9-B737CD3E8176}"/>
              </a:ext>
            </a:extLst>
          </p:cNvPr>
          <p:cNvSpPr>
            <a:spLocks noGrp="1"/>
          </p:cNvSpPr>
          <p:nvPr/>
        </p:nvSpPr>
        <p:spPr>
          <a:xfrm>
            <a:off x="8934450" y="2305050"/>
            <a:ext cx="2305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72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8B6810"/>
                </a:solidFill>
                <a:latin typeface="Hiragino Sans"/>
                <a:ea typeface="Hiragino Sans"/>
                <a:cs typeface="Hiragino Sans"/>
              </a:rPr>
              <a:t>ブラウザ標準API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7B82FAE-9546-41F0-89B4-B53258DCAA19}"/>
              </a:ext>
            </a:extLst>
          </p:cNvPr>
          <p:cNvSpPr>
            <a:spLocks noGrp="1"/>
          </p:cNvSpPr>
          <p:nvPr/>
        </p:nvSpPr>
        <p:spPr>
          <a:xfrm>
            <a:off x="8877300" y="2686050"/>
            <a:ext cx="24193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PublicKeyCredential</a:t>
            </a:r>
          </a:p>
          <a:p>
            <a:pPr algn="ctr">
              <a:lnSpc>
                <a:spcPct val="102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Creation / Request Options</a:t>
            </a:r>
          </a:p>
          <a:p>
            <a:endParaRPr sz="1200" b="0" i="0">
              <a:solidFill>
                <a:srgbClr val="102A33"/>
              </a:solidFill>
              <a:latin typeface="Menlo"/>
              <a:ea typeface="Menlo"/>
              <a:cs typeface="Menlo"/>
            </a:endParaRPr>
          </a:p>
          <a:p>
            <a:pPr algn="ctr">
              <a:lnSpc>
                <a:spcPct val="102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challenge・IDは</a:t>
            </a:r>
          </a:p>
          <a:p>
            <a:pPr algn="ctr">
              <a:lnSpc>
                <a:spcPct val="102000"/>
              </a:lnSpc>
              <a:buNone/>
              <a:defRPr sz="1200" b="0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Uint8Array / ArrayBuffer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D30C9710-BDF9-4A71-ACB1-21423B03D3F7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1066800"/>
          </a:xfrm>
          <a:prstGeom prst="roundRect">
            <a:avLst>
              <a:gd name="adj" fmla="val 7143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9CF99FDD-29AC-402D-9CB5-653D684D9DFA}"/>
              </a:ext>
            </a:extLst>
          </p:cNvPr>
          <p:cNvSpPr>
            <a:spLocks noGrp="1"/>
          </p:cNvSpPr>
          <p:nvPr/>
        </p:nvSpPr>
        <p:spPr>
          <a:xfrm>
            <a:off x="914400" y="50101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返り値も同じ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7E4F11B3-D5F3-453F-BE18-7B313CFF52ED}"/>
              </a:ext>
            </a:extLst>
          </p:cNvPr>
          <p:cNvSpPr>
            <a:spLocks noGrp="1"/>
          </p:cNvSpPr>
          <p:nvPr/>
        </p:nvSpPr>
        <p:spPr>
          <a:xfrm>
            <a:off x="2628900" y="49530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標準API: PublicKeyCredential（ArrayBuffer）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646912A-11BC-418D-992E-463F7BC47941}"/>
              </a:ext>
            </a:extLst>
          </p:cNvPr>
          <p:cNvSpPr>
            <a:spLocks noGrp="1"/>
          </p:cNvSpPr>
          <p:nvPr/>
        </p:nvSpPr>
        <p:spPr>
          <a:xfrm>
            <a:off x="2628900" y="5353050"/>
            <a:ext cx="781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FFFFFF"/>
                </a:solidFill>
                <a:latin typeface="Menlo"/>
                <a:ea typeface="Menlo"/>
                <a:cs typeface="Menlo"/>
              </a:rPr>
              <a:t>browser: Registration / AuthenticationResponseJSON（Base64URL）</a:t>
            </a:r>
          </a:p>
        </p:txBody>
      </p:sp>
    </p:spTree>
    <p:extLst>
      <p:ext uri="{BB962C8B-B14F-4D97-AF65-F5344CB8AC3E}">
        <p14:creationId xmlns:p14="http://schemas.microsoft.com/office/powerpoint/2010/main" val="59772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ED69542-432C-46C8-AF2D-8CA256AF2CF7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B970BCE-8246-4DD1-B824-401CDA59855C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10 / REGISTRATION INPUT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8E666C2-AF52-4112-ADDF-CE3F6B4FEB4A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登録時は、誰に・どのRP向けの鍵を作るかを渡す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CF42C92-B6AB-4F70-B3E4-BF8E5800A4A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8D940A2-5E82-4A44-883D-CE2905E28E52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DB46CD2-EE6E-482A-9053-46DCCAFEE43B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startRegistration()へ渡すoptionsJSONは、サーバーで生成してchallengeを保存してから返す。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AA73DAA2-4066-4ED3-88F7-7F6402F52E4B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448300" cy="4038600"/>
          </a:xfrm>
          <a:prstGeom prst="roundRect">
            <a:avLst>
              <a:gd name="adj" fmla="val 1887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7B059EE-A758-43CF-8509-CF90626E3065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5067300" cy="3771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PublicKeyCredentialCreationOptionsJSON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challenge: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rp: { id?: string; name: string }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user: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id: string; name: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displayName: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pubKeyCredParams: [{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type: "public-key"; alg: -7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}]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excludeCredentials?: [{ id, transports }]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authenticatorSelection?: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residentKey, userVerification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27E98F3-2264-489D-B868-13A1AB8324C8}"/>
              </a:ext>
            </a:extLst>
          </p:cNvPr>
          <p:cNvSpPr>
            <a:spLocks noGrp="1"/>
          </p:cNvSpPr>
          <p:nvPr/>
        </p:nvSpPr>
        <p:spPr>
          <a:xfrm>
            <a:off x="6667500" y="19431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必須の4要素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5054B7D-745C-477D-AB35-FF8891948158}"/>
              </a:ext>
            </a:extLst>
          </p:cNvPr>
          <p:cNvSpPr>
            <a:spLocks noGrp="1"/>
          </p:cNvSpPr>
          <p:nvPr/>
        </p:nvSpPr>
        <p:spPr>
          <a:xfrm>
            <a:off x="6667500" y="2419350"/>
            <a:ext cx="76200" cy="552450"/>
          </a:xfrm>
          <a:prstGeom prst="rect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C16FA15-6824-499B-BE93-3F356AB0CE57}"/>
              </a:ext>
            </a:extLst>
          </p:cNvPr>
          <p:cNvSpPr>
            <a:spLocks noGrp="1"/>
          </p:cNvSpPr>
          <p:nvPr/>
        </p:nvSpPr>
        <p:spPr>
          <a:xfrm>
            <a:off x="6858000" y="24003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4016273-6E34-4B0C-993A-6A16638A5B7C}"/>
              </a:ext>
            </a:extLst>
          </p:cNvPr>
          <p:cNvSpPr>
            <a:spLocks noGrp="1"/>
          </p:cNvSpPr>
          <p:nvPr/>
        </p:nvSpPr>
        <p:spPr>
          <a:xfrm>
            <a:off x="6858000" y="26860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一度きりの要求。HTTPではBase64URL文字列。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EDA246-5136-4F17-A0A8-68694C4B8EE5}"/>
              </a:ext>
            </a:extLst>
          </p:cNvPr>
          <p:cNvSpPr>
            <a:spLocks noGrp="1"/>
          </p:cNvSpPr>
          <p:nvPr/>
        </p:nvSpPr>
        <p:spPr>
          <a:xfrm>
            <a:off x="6667500" y="3181350"/>
            <a:ext cx="76200" cy="552450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19709D66-4CFD-4BB9-BD01-A55252F13749}"/>
              </a:ext>
            </a:extLst>
          </p:cNvPr>
          <p:cNvSpPr>
            <a:spLocks noGrp="1"/>
          </p:cNvSpPr>
          <p:nvPr/>
        </p:nvSpPr>
        <p:spPr>
          <a:xfrm>
            <a:off x="6858000" y="31623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rp / user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C4DA6BA-8901-48F2-A840-D66D94D3A7C5}"/>
              </a:ext>
            </a:extLst>
          </p:cNvPr>
          <p:cNvSpPr>
            <a:spLocks noGrp="1"/>
          </p:cNvSpPr>
          <p:nvPr/>
        </p:nvSpPr>
        <p:spPr>
          <a:xfrm>
            <a:off x="6858000" y="34480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 IDと、最大64バイトの不透明なuser.id。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CD87278-AF98-4EFF-9DCF-9C98CDCA0B24}"/>
              </a:ext>
            </a:extLst>
          </p:cNvPr>
          <p:cNvSpPr>
            <a:spLocks noGrp="1"/>
          </p:cNvSpPr>
          <p:nvPr/>
        </p:nvSpPr>
        <p:spPr>
          <a:xfrm>
            <a:off x="6667500" y="3943350"/>
            <a:ext cx="76200" cy="552450"/>
          </a:xfrm>
          <a:prstGeom prst="rect">
            <a:avLst/>
          </a:prstGeom>
          <a:solidFill>
            <a:srgbClr val="9A700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CFF9FF6-A584-47DC-8F04-63B7F7CD499F}"/>
              </a:ext>
            </a:extLst>
          </p:cNvPr>
          <p:cNvSpPr>
            <a:spLocks noGrp="1"/>
          </p:cNvSpPr>
          <p:nvPr/>
        </p:nvSpPr>
        <p:spPr>
          <a:xfrm>
            <a:off x="6858000" y="39243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pubKeyCredParams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FAE3283-80A0-495D-BA3C-B39B8166FFD8}"/>
              </a:ext>
            </a:extLst>
          </p:cNvPr>
          <p:cNvSpPr>
            <a:spLocks noGrp="1"/>
          </p:cNvSpPr>
          <p:nvPr/>
        </p:nvSpPr>
        <p:spPr>
          <a:xfrm>
            <a:off x="6858000" y="42100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対応する署名アルゴリズムを優先順で指定。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7C84BA2-DBA6-4883-AB2E-56D4FE7DA7E8}"/>
              </a:ext>
            </a:extLst>
          </p:cNvPr>
          <p:cNvSpPr>
            <a:spLocks noGrp="1"/>
          </p:cNvSpPr>
          <p:nvPr/>
        </p:nvSpPr>
        <p:spPr>
          <a:xfrm>
            <a:off x="6667500" y="4705350"/>
            <a:ext cx="76200" cy="552450"/>
          </a:xfrm>
          <a:prstGeom prst="rect">
            <a:avLst/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A756572-9D74-44C6-B08E-4E76192D1BCA}"/>
              </a:ext>
            </a:extLst>
          </p:cNvPr>
          <p:cNvSpPr>
            <a:spLocks noGrp="1"/>
          </p:cNvSpPr>
          <p:nvPr/>
        </p:nvSpPr>
        <p:spPr>
          <a:xfrm>
            <a:off x="6858000" y="46863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任意の制御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10B8B58C-A60A-4234-949D-4AC08237406C}"/>
              </a:ext>
            </a:extLst>
          </p:cNvPr>
          <p:cNvSpPr>
            <a:spLocks noGrp="1"/>
          </p:cNvSpPr>
          <p:nvPr/>
        </p:nvSpPr>
        <p:spPr>
          <a:xfrm>
            <a:off x="6858000" y="49720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重複防止、Discoverable Credential、UV要件など。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15D5BC5-AA63-4700-A9B0-92292E62E73C}"/>
              </a:ext>
            </a:extLst>
          </p:cNvPr>
          <p:cNvSpPr>
            <a:spLocks noGrp="1"/>
          </p:cNvSpPr>
          <p:nvPr/>
        </p:nvSpPr>
        <p:spPr>
          <a:xfrm>
            <a:off x="6667500" y="55626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呼び出し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8D20EBA-E6CC-46AE-A742-09CC80F29BF8}"/>
              </a:ext>
            </a:extLst>
          </p:cNvPr>
          <p:cNvSpPr>
            <a:spLocks noGrp="1"/>
          </p:cNvSpPr>
          <p:nvPr/>
        </p:nvSpPr>
        <p:spPr>
          <a:xfrm>
            <a:off x="7524750" y="55245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startRegistration({ optionsJSON })</a:t>
            </a:r>
          </a:p>
        </p:txBody>
      </p:sp>
    </p:spTree>
    <p:extLst>
      <p:ext uri="{BB962C8B-B14F-4D97-AF65-F5344CB8AC3E}">
        <p14:creationId xmlns:p14="http://schemas.microsoft.com/office/powerpoint/2010/main" val="5471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060B988-3244-487F-9E75-C91334E211F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87CF220-C37E-4E43-BEA4-888E7B958CAD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 dirty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11 / REG OUTPUT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E7EDD4C-21E7-4105-A087-C0738FCF0F54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登録結果のJSON構造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143E214-0ABD-40FF-B933-D9043AB6B1B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284CFDD-68F5-4ECE-B58A-FD888DE7BE8F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 dirty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DD23DEA-34DA-4F57-9502-E472C54062C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秘密鍵は含まれない。バイナリはBase64URL文字列へ変換済みなので、そのままPOSTできる。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45B4E7FB-0DBA-41E2-9433-6AE51A5D186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448300" cy="3886200"/>
          </a:xfrm>
          <a:prstGeom prst="roundRect">
            <a:avLst>
              <a:gd name="adj" fmla="val 1961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DEBE7E1-A4C4-43C5-BC14-6C8823DA1A32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5067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RegistrationResponseJSON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id: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rawId: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type: "public-key"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authenticatorAttachment?: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"platform" | "cross-platform"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response: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clientDataJSON: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attestationObject: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transports: string[]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clientExtensionResults: object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9BEBCEC-1CA3-4AEA-AFCA-8B486B6D62C3}"/>
              </a:ext>
            </a:extLst>
          </p:cNvPr>
          <p:cNvSpPr>
            <a:spLocks noGrp="1"/>
          </p:cNvSpPr>
          <p:nvPr/>
        </p:nvSpPr>
        <p:spPr>
          <a:xfrm>
            <a:off x="6667500" y="2038350"/>
            <a:ext cx="76200" cy="552450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7D676B72-2143-456C-91F8-BD0A699B8F9B}"/>
              </a:ext>
            </a:extLst>
          </p:cNvPr>
          <p:cNvSpPr>
            <a:spLocks noGrp="1"/>
          </p:cNvSpPr>
          <p:nvPr/>
        </p:nvSpPr>
        <p:spPr>
          <a:xfrm>
            <a:off x="6858000" y="20193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id / rawId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6F0B636-E8E6-4777-A1DF-71B0C368FE2C}"/>
              </a:ext>
            </a:extLst>
          </p:cNvPr>
          <p:cNvSpPr>
            <a:spLocks noGrp="1"/>
          </p:cNvSpPr>
          <p:nvPr/>
        </p:nvSpPr>
        <p:spPr>
          <a:xfrm>
            <a:off x="6858000" y="230505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同じCredential IDのJSON表現。DB検索キーになる。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EDC2FEC-5A81-4F46-B646-A96AB1624F8D}"/>
              </a:ext>
            </a:extLst>
          </p:cNvPr>
          <p:cNvSpPr>
            <a:spLocks noGrp="1"/>
          </p:cNvSpPr>
          <p:nvPr/>
        </p:nvSpPr>
        <p:spPr>
          <a:xfrm>
            <a:off x="6667500" y="2895600"/>
            <a:ext cx="76200" cy="552450"/>
          </a:xfrm>
          <a:prstGeom prst="rect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19DB589-5262-4B67-85F9-6F41B7ADC824}"/>
              </a:ext>
            </a:extLst>
          </p:cNvPr>
          <p:cNvSpPr>
            <a:spLocks noGrp="1"/>
          </p:cNvSpPr>
          <p:nvPr/>
        </p:nvSpPr>
        <p:spPr>
          <a:xfrm>
            <a:off x="6858000" y="28765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clientDataJSON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E69AC2E-047D-4561-82BC-360BD0908E6A}"/>
              </a:ext>
            </a:extLst>
          </p:cNvPr>
          <p:cNvSpPr>
            <a:spLocks noGrp="1"/>
          </p:cNvSpPr>
          <p:nvPr/>
        </p:nvSpPr>
        <p:spPr>
          <a:xfrm>
            <a:off x="6858000" y="31623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type = webauthn.create、challenge、originを含む。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E0F1E99-5490-4BC8-BD78-CF2E07FBBE20}"/>
              </a:ext>
            </a:extLst>
          </p:cNvPr>
          <p:cNvSpPr>
            <a:spLocks noGrp="1"/>
          </p:cNvSpPr>
          <p:nvPr/>
        </p:nvSpPr>
        <p:spPr>
          <a:xfrm>
            <a:off x="6667500" y="3752850"/>
            <a:ext cx="76200" cy="552450"/>
          </a:xfrm>
          <a:prstGeom prst="rect">
            <a:avLst/>
          </a:prstGeom>
          <a:solidFill>
            <a:srgbClr val="9A700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F22FF92-3784-4164-B8FE-026EB7283324}"/>
              </a:ext>
            </a:extLst>
          </p:cNvPr>
          <p:cNvSpPr>
            <a:spLocks noGrp="1"/>
          </p:cNvSpPr>
          <p:nvPr/>
        </p:nvSpPr>
        <p:spPr>
          <a:xfrm>
            <a:off x="6858000" y="37338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attestationObject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0020577F-32CB-43BD-BBF3-D20C2EEE4DC7}"/>
              </a:ext>
            </a:extLst>
          </p:cNvPr>
          <p:cNvSpPr>
            <a:spLocks noGrp="1"/>
          </p:cNvSpPr>
          <p:nvPr/>
        </p:nvSpPr>
        <p:spPr>
          <a:xfrm>
            <a:off x="6858000" y="401955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CBOR。authData内にCredential IDと公開鍵が入る。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27E5F33-D68E-4288-8AF8-79859B4B8563}"/>
              </a:ext>
            </a:extLst>
          </p:cNvPr>
          <p:cNvSpPr>
            <a:spLocks noGrp="1"/>
          </p:cNvSpPr>
          <p:nvPr/>
        </p:nvSpPr>
        <p:spPr>
          <a:xfrm>
            <a:off x="6667500" y="4610100"/>
            <a:ext cx="76200" cy="552450"/>
          </a:xfrm>
          <a:prstGeom prst="rect">
            <a:avLst/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CC26DA8B-261B-4B67-9D28-EC3CFD1B91CB}"/>
              </a:ext>
            </a:extLst>
          </p:cNvPr>
          <p:cNvSpPr>
            <a:spLocks noGrp="1"/>
          </p:cNvSpPr>
          <p:nvPr/>
        </p:nvSpPr>
        <p:spPr>
          <a:xfrm>
            <a:off x="6858000" y="45910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transports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5EAD40D-40A6-4F4A-B8B4-E16AB612A8D4}"/>
              </a:ext>
            </a:extLst>
          </p:cNvPr>
          <p:cNvSpPr>
            <a:spLocks noGrp="1"/>
          </p:cNvSpPr>
          <p:nvPr/>
        </p:nvSpPr>
        <p:spPr>
          <a:xfrm>
            <a:off x="6858000" y="48768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internal / hybrid / usb / nfc / ble などの接続ヒント。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910BBF-6899-4902-9B13-BC5944E1A19A}"/>
              </a:ext>
            </a:extLst>
          </p:cNvPr>
          <p:cNvSpPr>
            <a:spLocks noGrp="1"/>
          </p:cNvSpPr>
          <p:nvPr/>
        </p:nvSpPr>
        <p:spPr>
          <a:xfrm>
            <a:off x="6667500" y="5486400"/>
            <a:ext cx="438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このJSONを response として</a:t>
            </a:r>
          </a:p>
          <a:p>
            <a:pPr algn="l">
              <a:lnSpc>
                <a:spcPct val="108000"/>
              </a:lnSpc>
              <a:buNone/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verifyRegistrationResponse()へ渡す。</a:t>
            </a:r>
          </a:p>
        </p:txBody>
      </p:sp>
    </p:spTree>
    <p:extLst>
      <p:ext uri="{BB962C8B-B14F-4D97-AF65-F5344CB8AC3E}">
        <p14:creationId xmlns:p14="http://schemas.microsoft.com/office/powerpoint/2010/main" val="511998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74A0E10-134B-4C45-AC92-DBAC6C0444B4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D191C2-2E7F-492A-BC2D-5E613844663F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12 / VERIFY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5C7EAAD-3D74-4A72-BD8D-9A0E5582FADA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検証には、レスポンスとサーバーが覚えた期待値を渡す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106425-C947-4759-A9A9-A61320C70570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A146296-604C-4F93-BE9A-F72A57785F88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13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1BDB3DE-B2A5-4300-B1BC-F0A73A524FE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検証成功時だけ、registrationInfoから公開鍵を取り出してDBへ保存する。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C18A1E6-35DA-48FA-B2CD-1B5AA60731E1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入力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08B6715E-3D1B-4AA0-A556-7FDFAFC5030F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5086350" cy="2419350"/>
          </a:xfrm>
          <a:prstGeom prst="roundRect">
            <a:avLst>
              <a:gd name="adj" fmla="val 3150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E2BE1E-3062-4CC7-8DEF-2047BFC0B585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70535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verifyRegistrationResponse({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response: RegistrationResponseJSON,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expectedChallenge: storedChallenge,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expectedOrigin: "https://example.com",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expectedRPID: "example.com",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requireUserVerification?: true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2EABA5-E99E-45E7-A74F-21CF75E37455}"/>
              </a:ext>
            </a:extLst>
          </p:cNvPr>
          <p:cNvSpPr>
            <a:spLocks noGrp="1"/>
          </p:cNvSpPr>
          <p:nvPr/>
        </p:nvSpPr>
        <p:spPr>
          <a:xfrm>
            <a:off x="6419850" y="18478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返り値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AF7A537F-F07C-498F-B3FF-EBE1355BF99F}"/>
              </a:ext>
            </a:extLst>
          </p:cNvPr>
          <p:cNvSpPr>
            <a:spLocks noGrp="1"/>
          </p:cNvSpPr>
          <p:nvPr/>
        </p:nvSpPr>
        <p:spPr>
          <a:xfrm>
            <a:off x="6419850" y="2209800"/>
            <a:ext cx="5086350" cy="2857500"/>
          </a:xfrm>
          <a:prstGeom prst="roundRect">
            <a:avLst>
              <a:gd name="adj" fmla="val 2667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A6238C3-E4C2-4EA9-A699-69B6ECAD7A04}"/>
              </a:ext>
            </a:extLst>
          </p:cNvPr>
          <p:cNvSpPr>
            <a:spLocks noGrp="1"/>
          </p:cNvSpPr>
          <p:nvPr/>
        </p:nvSpPr>
        <p:spPr>
          <a:xfrm>
            <a:off x="6610350" y="2343150"/>
            <a:ext cx="4705350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verified: boolean,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registrationInfo?: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credential: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  id: string,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  publicKey: Uint8Array,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  counter: number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},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credentialDeviceType,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credentialBackedUp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631B279B-2652-4FE4-8AB9-E77322718EFB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0820400" cy="685800"/>
          </a:xfrm>
          <a:prstGeom prst="roundRect">
            <a:avLst>
              <a:gd name="adj" fmla="val 11111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844E5749-4B2A-4067-A2EA-4FCB65AA3C37}"/>
              </a:ext>
            </a:extLst>
          </p:cNvPr>
          <p:cNvSpPr>
            <a:spLocks noGrp="1"/>
          </p:cNvSpPr>
          <p:nvPr/>
        </p:nvSpPr>
        <p:spPr>
          <a:xfrm>
            <a:off x="914400" y="55054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DBへ保存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4CBBA45-9C6B-4D22-95F5-811A851CF0EB}"/>
              </a:ext>
            </a:extLst>
          </p:cNvPr>
          <p:cNvSpPr>
            <a:spLocks noGrp="1"/>
          </p:cNvSpPr>
          <p:nvPr/>
        </p:nvSpPr>
        <p:spPr>
          <a:xfrm>
            <a:off x="2343150" y="5486400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75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credential.id  /  publicKey  /  counter  /  response.transports  /  userId</a:t>
            </a:r>
          </a:p>
        </p:txBody>
      </p:sp>
    </p:spTree>
    <p:extLst>
      <p:ext uri="{BB962C8B-B14F-4D97-AF65-F5344CB8AC3E}">
        <p14:creationId xmlns:p14="http://schemas.microsoft.com/office/powerpoint/2010/main" val="501779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FBFA14A-7563-4B09-980D-F1679D08625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467DCBB-B7E6-473C-8808-7A2EB17F4DFA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13 / CHALLENGE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32609BE-E448-4C5E-8644-9A3EEF1D7514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challengeは、今回の要求への応答だけを有効にする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3648850-B27F-471C-8896-F43D501EC8F5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DC8E88-65F2-4914-9884-EF3698F359B1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14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C9B1935-8AA0-419A-9223-6E3C9A56D45C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十分にランダムな一度きりの値で、過去のレスポンス再利用を防ぐ。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306906F6-FEF7-4274-93C1-233BD2B3CA34}"/>
              </a:ext>
            </a:extLst>
          </p:cNvPr>
          <p:cNvSpPr>
            <a:spLocks noGrp="1"/>
          </p:cNvSpPr>
          <p:nvPr/>
        </p:nvSpPr>
        <p:spPr>
          <a:xfrm>
            <a:off x="3067050" y="2762250"/>
            <a:ext cx="78105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F4E9F131-1A3E-43AC-909F-1A06636960BE}"/>
              </a:ext>
            </a:extLst>
          </p:cNvPr>
          <p:cNvSpPr>
            <a:spLocks noGrp="1"/>
          </p:cNvSpPr>
          <p:nvPr/>
        </p:nvSpPr>
        <p:spPr>
          <a:xfrm>
            <a:off x="6724650" y="2762250"/>
            <a:ext cx="78105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720E6265-ACF7-4D7D-9F8E-D14774248210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723900" cy="72390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AB51DB-D17B-4552-9BB1-3898D86E194A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E437ED1-E4FA-4365-AE25-E200A4707ECF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発行・保存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73F5495-7236-4A7D-854C-609505E46ADE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RPサーバーが生成</a:t>
            </a:r>
          </a:p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期限・用途と一緒に保持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F5B71325-6A0C-4504-8427-3BBB077D0E82}"/>
              </a:ext>
            </a:extLst>
          </p:cNvPr>
          <p:cNvSpPr>
            <a:spLocks noGrp="1"/>
          </p:cNvSpPr>
          <p:nvPr/>
        </p:nvSpPr>
        <p:spPr>
          <a:xfrm>
            <a:off x="3867150" y="2266950"/>
            <a:ext cx="723900" cy="72390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07DD165-C87F-4708-84B7-100A8FBA3914}"/>
              </a:ext>
            </a:extLst>
          </p:cNvPr>
          <p:cNvSpPr>
            <a:spLocks noGrp="1"/>
          </p:cNvSpPr>
          <p:nvPr/>
        </p:nvSpPr>
        <p:spPr>
          <a:xfrm>
            <a:off x="3867150" y="22860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EBA2353-7DE8-44FD-A1A8-6097C5E76210}"/>
              </a:ext>
            </a:extLst>
          </p:cNvPr>
          <p:cNvSpPr>
            <a:spLocks noGrp="1"/>
          </p:cNvSpPr>
          <p:nvPr/>
        </p:nvSpPr>
        <p:spPr>
          <a:xfrm>
            <a:off x="3867150" y="3238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応答に結び付ける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4145500-F6B4-4EDE-9320-03E1CEAC3BDA}"/>
              </a:ext>
            </a:extLst>
          </p:cNvPr>
          <p:cNvSpPr>
            <a:spLocks noGrp="1"/>
          </p:cNvSpPr>
          <p:nvPr/>
        </p:nvSpPr>
        <p:spPr>
          <a:xfrm>
            <a:off x="3867150" y="37338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clientDataJSONに含まれ</a:t>
            </a:r>
          </a:p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署名対象へ組み込まれる</a:t>
            </a: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99D5EB13-2B89-409C-A3AA-70E6680AF8C5}"/>
              </a:ext>
            </a:extLst>
          </p:cNvPr>
          <p:cNvSpPr>
            <a:spLocks noGrp="1"/>
          </p:cNvSpPr>
          <p:nvPr/>
        </p:nvSpPr>
        <p:spPr>
          <a:xfrm>
            <a:off x="7524750" y="2266950"/>
            <a:ext cx="723900" cy="72390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AD3BBFC-1BA0-4A14-9598-C05F376AA918}"/>
              </a:ext>
            </a:extLst>
          </p:cNvPr>
          <p:cNvSpPr>
            <a:spLocks noGrp="1"/>
          </p:cNvSpPr>
          <p:nvPr/>
        </p:nvSpPr>
        <p:spPr>
          <a:xfrm>
            <a:off x="7524750" y="2286000"/>
            <a:ext cx="723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DD1BA0D-3A40-4CB5-82F6-95839784C523}"/>
              </a:ext>
            </a:extLst>
          </p:cNvPr>
          <p:cNvSpPr>
            <a:spLocks noGrp="1"/>
          </p:cNvSpPr>
          <p:nvPr/>
        </p:nvSpPr>
        <p:spPr>
          <a:xfrm>
            <a:off x="7524750" y="3238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一致を検証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DFD056A-B35B-47ED-817B-582D67B1AE47}"/>
              </a:ext>
            </a:extLst>
          </p:cNvPr>
          <p:cNvSpPr>
            <a:spLocks noGrp="1"/>
          </p:cNvSpPr>
          <p:nvPr/>
        </p:nvSpPr>
        <p:spPr>
          <a:xfrm>
            <a:off x="7524750" y="3733800"/>
            <a:ext cx="27432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発行済み値と一致すれば</a:t>
            </a:r>
          </a:p>
          <a:p>
            <a:pPr algn="l">
              <a:lnSpc>
                <a:spcPct val="112000"/>
              </a:lnSpc>
              <a:buNone/>
              <a:def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今回の応答と判断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72767480-FE4D-4A68-97DD-8829A47EAECD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F9E7E5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ED01493-1B36-4EE9-97CC-F8FC5081D975}"/>
              </a:ext>
            </a:extLst>
          </p:cNvPr>
          <p:cNvSpPr>
            <a:spLocks noGrp="1"/>
          </p:cNvSpPr>
          <p:nvPr/>
        </p:nvSpPr>
        <p:spPr>
          <a:xfrm>
            <a:off x="914400" y="51625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リプレイ攻撃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455488B-75AA-4A99-A736-F88771687468}"/>
              </a:ext>
            </a:extLst>
          </p:cNvPr>
          <p:cNvSpPr>
            <a:spLocks noGrp="1"/>
          </p:cNvSpPr>
          <p:nvPr/>
        </p:nvSpPr>
        <p:spPr>
          <a:xfrm>
            <a:off x="2552700" y="5143500"/>
            <a:ext cx="836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以前の署名済みレスポンスを再送しても、challengeが一致しないため拒否できる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34DEB8E-7D18-41AA-8040-46E258289164}"/>
              </a:ext>
            </a:extLst>
          </p:cNvPr>
          <p:cNvSpPr>
            <a:spLocks noGrp="1"/>
          </p:cNvSpPr>
          <p:nvPr/>
        </p:nvSpPr>
        <p:spPr>
          <a:xfrm>
            <a:off x="2552700" y="5505450"/>
            <a:ext cx="8362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検証後は使用済みchallengeを消費し、再利用できない状態にする。</a:t>
            </a:r>
          </a:p>
        </p:txBody>
      </p:sp>
    </p:spTree>
    <p:extLst>
      <p:ext uri="{BB962C8B-B14F-4D97-AF65-F5344CB8AC3E}">
        <p14:creationId xmlns:p14="http://schemas.microsoft.com/office/powerpoint/2010/main" val="1552090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DC3C397-2D21-44F5-AE02-B0BC5030C43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FB4F9E3-6A26-445D-B841-8CEFBD134532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14 / AUTHENTICATION FLOW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6187F6D-8E61-4024-A5F6-4433BE962A3E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認証は、保存済み公開鍵を読み出して署名を検証する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B944939-BC59-43FC-BC09-F4B2310044C3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BA0D973-5014-4CCD-9888-825FA7210745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15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BF40ED8-397D-4960-8AAC-FB5A0DAA2746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選ばれたCredential IDをキーにDBを引き、検証後はcounterとセッションを更新する。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3F5EF3E-BF4C-4EC1-9A8B-1380FFA5BAA0}"/>
              </a:ext>
            </a:extLst>
          </p:cNvPr>
          <p:cNvSpPr>
            <a:spLocks noGrp="1"/>
          </p:cNvSpPr>
          <p:nvPr/>
        </p:nvSpPr>
        <p:spPr>
          <a:xfrm>
            <a:off x="1590675" y="2171700"/>
            <a:ext cx="19050" cy="36957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272A2A7-36B6-4332-9EDF-27CBFBDC95C4}"/>
              </a:ext>
            </a:extLst>
          </p:cNvPr>
          <p:cNvSpPr>
            <a:spLocks noGrp="1"/>
          </p:cNvSpPr>
          <p:nvPr/>
        </p:nvSpPr>
        <p:spPr>
          <a:xfrm>
            <a:off x="4276725" y="2171700"/>
            <a:ext cx="19050" cy="36957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A91E90D-6047-4F55-9608-DF07D5E88B31}"/>
              </a:ext>
            </a:extLst>
          </p:cNvPr>
          <p:cNvSpPr>
            <a:spLocks noGrp="1"/>
          </p:cNvSpPr>
          <p:nvPr/>
        </p:nvSpPr>
        <p:spPr>
          <a:xfrm>
            <a:off x="6962775" y="2171700"/>
            <a:ext cx="19050" cy="36957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780BAEF-ED58-4BD3-A03B-07309FAF157E}"/>
              </a:ext>
            </a:extLst>
          </p:cNvPr>
          <p:cNvSpPr>
            <a:spLocks noGrp="1"/>
          </p:cNvSpPr>
          <p:nvPr/>
        </p:nvSpPr>
        <p:spPr>
          <a:xfrm>
            <a:off x="9648825" y="2171700"/>
            <a:ext cx="19050" cy="3695700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右矢印 10">
            <a:extLst>
              <a:ext uri="{FF2B5EF4-FFF2-40B4-BE49-F238E27FC236}">
                <a16:creationId xmlns:a16="http://schemas.microsoft.com/office/drawing/2014/main" id="{C939F4D6-5FD0-42DB-A9E8-980C2B8B9B50}"/>
              </a:ext>
            </a:extLst>
          </p:cNvPr>
          <p:cNvSpPr>
            <a:spLocks noGrp="1"/>
          </p:cNvSpPr>
          <p:nvPr/>
        </p:nvSpPr>
        <p:spPr>
          <a:xfrm>
            <a:off x="1590675" y="2400300"/>
            <a:ext cx="2686050" cy="114300"/>
          </a:xfrm>
          <a:prstGeom prst="rightArrow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5D6C56F-17AC-42C0-A4D4-ADC2B903E13C}"/>
              </a:ext>
            </a:extLst>
          </p:cNvPr>
          <p:cNvSpPr>
            <a:spLocks noGrp="1"/>
          </p:cNvSpPr>
          <p:nvPr/>
        </p:nvSpPr>
        <p:spPr>
          <a:xfrm>
            <a:off x="1666875" y="21907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1  GET /authentication/options</a:t>
            </a:r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936265F1-DC09-4E71-9815-4E97B766BC30}"/>
              </a:ext>
            </a:extLst>
          </p:cNvPr>
          <p:cNvSpPr>
            <a:spLocks noGrp="1"/>
          </p:cNvSpPr>
          <p:nvPr/>
        </p:nvSpPr>
        <p:spPr>
          <a:xfrm>
            <a:off x="4276725" y="2819400"/>
            <a:ext cx="5372100" cy="114300"/>
          </a:xfrm>
          <a:prstGeom prst="rightArrow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E05A11E-7B2F-4528-8318-836BE1632FF6}"/>
              </a:ext>
            </a:extLst>
          </p:cNvPr>
          <p:cNvSpPr>
            <a:spLocks noGrp="1"/>
          </p:cNvSpPr>
          <p:nvPr/>
        </p:nvSpPr>
        <p:spPr>
          <a:xfrm>
            <a:off x="4962525" y="26098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2  challengeを保存</a:t>
            </a:r>
          </a:p>
        </p:txBody>
      </p:sp>
      <p:sp>
        <p:nvSpPr>
          <p:cNvPr id="15" name="左矢印 14">
            <a:extLst>
              <a:ext uri="{FF2B5EF4-FFF2-40B4-BE49-F238E27FC236}">
                <a16:creationId xmlns:a16="http://schemas.microsoft.com/office/drawing/2014/main" id="{AC8C0E01-023F-4A2A-B970-A77E2B3E804D}"/>
              </a:ext>
            </a:extLst>
          </p:cNvPr>
          <p:cNvSpPr>
            <a:spLocks noGrp="1"/>
          </p:cNvSpPr>
          <p:nvPr/>
        </p:nvSpPr>
        <p:spPr>
          <a:xfrm>
            <a:off x="1590675" y="3238500"/>
            <a:ext cx="2686050" cy="114300"/>
          </a:xfrm>
          <a:prstGeom prst="lef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0B743BF-9B13-4246-AFF7-EE1BFEFD5B7D}"/>
              </a:ext>
            </a:extLst>
          </p:cNvPr>
          <p:cNvSpPr>
            <a:spLocks noGrp="1"/>
          </p:cNvSpPr>
          <p:nvPr/>
        </p:nvSpPr>
        <p:spPr>
          <a:xfrm>
            <a:off x="1666875" y="30289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3  RequestOptionsJSON</a:t>
            </a:r>
          </a:p>
        </p:txBody>
      </p:sp>
      <p:sp>
        <p:nvSpPr>
          <p:cNvPr id="17" name="右矢印 16">
            <a:extLst>
              <a:ext uri="{FF2B5EF4-FFF2-40B4-BE49-F238E27FC236}">
                <a16:creationId xmlns:a16="http://schemas.microsoft.com/office/drawing/2014/main" id="{25839A0A-10A4-4505-91CC-7BF7706E7A4F}"/>
              </a:ext>
            </a:extLst>
          </p:cNvPr>
          <p:cNvSpPr>
            <a:spLocks noGrp="1"/>
          </p:cNvSpPr>
          <p:nvPr/>
        </p:nvSpPr>
        <p:spPr>
          <a:xfrm>
            <a:off x="1590675" y="3657600"/>
            <a:ext cx="5372100" cy="114300"/>
          </a:xfrm>
          <a:prstGeom prst="righ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53D76C6-E6A0-4D56-8B22-748BAF85D509}"/>
              </a:ext>
            </a:extLst>
          </p:cNvPr>
          <p:cNvSpPr>
            <a:spLocks noGrp="1"/>
          </p:cNvSpPr>
          <p:nvPr/>
        </p:nvSpPr>
        <p:spPr>
          <a:xfrm>
            <a:off x="2276475" y="34480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4  startAuthentication({ optionsJSON })</a:t>
            </a:r>
          </a:p>
        </p:txBody>
      </p:sp>
      <p:sp>
        <p:nvSpPr>
          <p:cNvPr id="19" name="左矢印 18">
            <a:extLst>
              <a:ext uri="{FF2B5EF4-FFF2-40B4-BE49-F238E27FC236}">
                <a16:creationId xmlns:a16="http://schemas.microsoft.com/office/drawing/2014/main" id="{A70D5167-133D-4776-8B6C-FE3F4D35777A}"/>
              </a:ext>
            </a:extLst>
          </p:cNvPr>
          <p:cNvSpPr>
            <a:spLocks noGrp="1"/>
          </p:cNvSpPr>
          <p:nvPr/>
        </p:nvSpPr>
        <p:spPr>
          <a:xfrm>
            <a:off x="1590675" y="4076700"/>
            <a:ext cx="5372100" cy="114300"/>
          </a:xfrm>
          <a:prstGeom prst="leftArrow">
            <a:avLst/>
          </a:prstGeom>
          <a:solidFill>
            <a:srgbClr val="E3B341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48CA9C8-1DC3-4214-8A5A-99E8F97FDCD8}"/>
              </a:ext>
            </a:extLst>
          </p:cNvPr>
          <p:cNvSpPr>
            <a:spLocks noGrp="1"/>
          </p:cNvSpPr>
          <p:nvPr/>
        </p:nvSpPr>
        <p:spPr>
          <a:xfrm>
            <a:off x="2276475" y="38671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8B6810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8B6810"/>
                </a:solidFill>
                <a:latin typeface="Menlo"/>
                <a:ea typeface="Menlo"/>
                <a:cs typeface="Menlo"/>
              </a:rPr>
              <a:t>5  AuthenticationResponseJSON</a:t>
            </a:r>
          </a:p>
        </p:txBody>
      </p:sp>
      <p:sp>
        <p:nvSpPr>
          <p:cNvPr id="21" name="右矢印 20">
            <a:extLst>
              <a:ext uri="{FF2B5EF4-FFF2-40B4-BE49-F238E27FC236}">
                <a16:creationId xmlns:a16="http://schemas.microsoft.com/office/drawing/2014/main" id="{A9B9CAD8-E9A4-4C1C-ADB6-A434FA220C8C}"/>
              </a:ext>
            </a:extLst>
          </p:cNvPr>
          <p:cNvSpPr>
            <a:spLocks noGrp="1"/>
          </p:cNvSpPr>
          <p:nvPr/>
        </p:nvSpPr>
        <p:spPr>
          <a:xfrm>
            <a:off x="1590675" y="4495800"/>
            <a:ext cx="2686050" cy="114300"/>
          </a:xfrm>
          <a:prstGeom prst="rightArrow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DFF1DEF-7824-49D8-AA1D-DCE48D5FDEB3}"/>
              </a:ext>
            </a:extLst>
          </p:cNvPr>
          <p:cNvSpPr>
            <a:spLocks noGrp="1"/>
          </p:cNvSpPr>
          <p:nvPr/>
        </p:nvSpPr>
        <p:spPr>
          <a:xfrm>
            <a:off x="1666875" y="42862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05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05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6  POST /authentication/verify</a:t>
            </a:r>
          </a:p>
        </p:txBody>
      </p:sp>
      <p:sp>
        <p:nvSpPr>
          <p:cNvPr id="23" name="右矢印 22">
            <a:extLst>
              <a:ext uri="{FF2B5EF4-FFF2-40B4-BE49-F238E27FC236}">
                <a16:creationId xmlns:a16="http://schemas.microsoft.com/office/drawing/2014/main" id="{1469A31A-2784-478D-BAD6-49116D0F49EE}"/>
              </a:ext>
            </a:extLst>
          </p:cNvPr>
          <p:cNvSpPr>
            <a:spLocks noGrp="1"/>
          </p:cNvSpPr>
          <p:nvPr/>
        </p:nvSpPr>
        <p:spPr>
          <a:xfrm>
            <a:off x="4276725" y="4914900"/>
            <a:ext cx="5372100" cy="114300"/>
          </a:xfrm>
          <a:prstGeom prst="rightArrow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FDBC1F49-59FA-4FDB-A586-0DDA8AF8F665}"/>
              </a:ext>
            </a:extLst>
          </p:cNvPr>
          <p:cNvSpPr>
            <a:spLocks noGrp="1"/>
          </p:cNvSpPr>
          <p:nvPr/>
        </p:nvSpPr>
        <p:spPr>
          <a:xfrm>
            <a:off x="4962525" y="470535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7  公開鍵・counterを取得 / counter更新</a:t>
            </a:r>
          </a:p>
        </p:txBody>
      </p:sp>
      <p:sp>
        <p:nvSpPr>
          <p:cNvPr id="25" name="左矢印 24">
            <a:extLst>
              <a:ext uri="{FF2B5EF4-FFF2-40B4-BE49-F238E27FC236}">
                <a16:creationId xmlns:a16="http://schemas.microsoft.com/office/drawing/2014/main" id="{936C19FE-D3AD-48A7-B13E-0772E7A9B6E2}"/>
              </a:ext>
            </a:extLst>
          </p:cNvPr>
          <p:cNvSpPr>
            <a:spLocks noGrp="1"/>
          </p:cNvSpPr>
          <p:nvPr/>
        </p:nvSpPr>
        <p:spPr>
          <a:xfrm>
            <a:off x="1590675" y="5334000"/>
            <a:ext cx="2686050" cy="114300"/>
          </a:xfrm>
          <a:prstGeom prst="lef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A802348-94E0-47BE-8219-0F68FC8BB04A}"/>
              </a:ext>
            </a:extLst>
          </p:cNvPr>
          <p:cNvSpPr>
            <a:spLocks noGrp="1"/>
          </p:cNvSpPr>
          <p:nvPr/>
        </p:nvSpPr>
        <p:spPr>
          <a:xfrm>
            <a:off x="1666875" y="5124450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975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975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8  { verified: true } + session</a:t>
            </a:r>
          </a:p>
        </p:txBody>
      </p: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16B03D91-0E81-4EC1-BBBD-A6FDF764BE72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809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0F9D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DAFCE85-C07B-49A7-B66D-1486F76340C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ブラウザ / Webアプリ</a:t>
            </a:r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3BB06046-7B91-4021-A14E-D82824008AF3}"/>
              </a:ext>
            </a:extLst>
          </p:cNvPr>
          <p:cNvSpPr>
            <a:spLocks noGrp="1"/>
          </p:cNvSpPr>
          <p:nvPr/>
        </p:nvSpPr>
        <p:spPr>
          <a:xfrm>
            <a:off x="3371850" y="1657350"/>
            <a:ext cx="1809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5DFE1FF9-F35A-4070-B0D8-C97C4B4FF4BD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31" name="角丸四角形 30">
            <a:extLst>
              <a:ext uri="{FF2B5EF4-FFF2-40B4-BE49-F238E27FC236}">
                <a16:creationId xmlns:a16="http://schemas.microsoft.com/office/drawing/2014/main" id="{739CB093-C1C9-4F2E-B2FD-D485F2C92FDC}"/>
              </a:ext>
            </a:extLst>
          </p:cNvPr>
          <p:cNvSpPr>
            <a:spLocks noGrp="1"/>
          </p:cNvSpPr>
          <p:nvPr/>
        </p:nvSpPr>
        <p:spPr>
          <a:xfrm>
            <a:off x="6057900" y="1657350"/>
            <a:ext cx="1809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9A700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00FBE9E-6B59-4C91-8413-250AFA020C01}"/>
              </a:ext>
            </a:extLst>
          </p:cNvPr>
          <p:cNvSpPr>
            <a:spLocks noGrp="1"/>
          </p:cNvSpPr>
          <p:nvPr/>
        </p:nvSpPr>
        <p:spPr>
          <a:xfrm>
            <a:off x="6057900" y="16764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E5760380-4650-4910-8A7E-FA276B5068C0}"/>
              </a:ext>
            </a:extLst>
          </p:cNvPr>
          <p:cNvSpPr>
            <a:spLocks noGrp="1"/>
          </p:cNvSpPr>
          <p:nvPr/>
        </p:nvSpPr>
        <p:spPr>
          <a:xfrm>
            <a:off x="8743950" y="1657350"/>
            <a:ext cx="18097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2C4047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3D2CF3E-D9FE-4A64-BF95-A32B826BBA83}"/>
              </a:ext>
            </a:extLst>
          </p:cNvPr>
          <p:cNvSpPr>
            <a:spLocks noGrp="1"/>
          </p:cNvSpPr>
          <p:nvPr/>
        </p:nvSpPr>
        <p:spPr>
          <a:xfrm>
            <a:off x="8743950" y="1676400"/>
            <a:ext cx="1809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DB</a:t>
            </a:r>
          </a:p>
        </p:txBody>
      </p:sp>
      <p:sp>
        <p:nvSpPr>
          <p:cNvPr id="35" name="角丸四角形 34">
            <a:extLst>
              <a:ext uri="{FF2B5EF4-FFF2-40B4-BE49-F238E27FC236}">
                <a16:creationId xmlns:a16="http://schemas.microsoft.com/office/drawing/2014/main" id="{BB565832-488F-46C4-945F-074D8ED5CF3D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820400" cy="400050"/>
          </a:xfrm>
          <a:prstGeom prst="roundRect">
            <a:avLst>
              <a:gd name="adj" fmla="val 19048"/>
            </a:avLst>
          </a:prstGeom>
          <a:solidFill>
            <a:srgbClr val="E6EDF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61C0E93B-75E3-4203-886A-AA21F72C1412}"/>
              </a:ext>
            </a:extLst>
          </p:cNvPr>
          <p:cNvSpPr>
            <a:spLocks noGrp="1"/>
          </p:cNvSpPr>
          <p:nvPr/>
        </p:nvSpPr>
        <p:spPr>
          <a:xfrm>
            <a:off x="876300" y="5838825"/>
            <a:ext cx="10439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2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直接APIなら 4 = navigator.credentials.get({ publicKey })。署名検証は必ずサーバー側で行う。</a:t>
            </a:r>
          </a:p>
        </p:txBody>
      </p:sp>
    </p:spTree>
    <p:extLst>
      <p:ext uri="{BB962C8B-B14F-4D97-AF65-F5344CB8AC3E}">
        <p14:creationId xmlns:p14="http://schemas.microsoft.com/office/powerpoint/2010/main" val="527117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36CC81B-E9E5-4D10-AB94-A2C25C3D3A1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68CCE74-CBAB-448A-A301-9BFC61A5429F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15 / INPUT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DA3270-DB35-4D81-85ED-E96358545FB7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認証オプションのJSON構造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1BA4A14-8403-4FE2-8E0A-29256AD57AB8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EECA017-4692-4D47-B1DE-6A0F703EDDFD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16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7FDB87B-7008-4A21-8401-C6A574719948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ユーザー名はWebAuthn APIへ渡さない。必要ならサーバーでCredential IDへ解決する。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A3F20792-1D01-4788-B70C-D14E3CC97907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448300" cy="4038600"/>
          </a:xfrm>
          <a:prstGeom prst="roundRect">
            <a:avLst>
              <a:gd name="adj" fmla="val 1887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7886801-360A-42AD-A87D-551D21743EF5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5067300" cy="3771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PublicKeyCredentialRequestOptionsJSON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challenge: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rpId?: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allowCredentials?: [{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type: "public-key"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id: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transports?: string[]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}]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userVerification?: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"required" | "preferred" | "discouraged"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timeout?: number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hints?: string[]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extensions?: object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405B6A6-937E-4011-9ABA-F64D82540F6E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76200" cy="552450"/>
          </a:xfrm>
          <a:prstGeom prst="rect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B2B9BA6-BD63-4FB2-B9CF-F9254F141A82}"/>
              </a:ext>
            </a:extLst>
          </p:cNvPr>
          <p:cNvSpPr>
            <a:spLocks noGrp="1"/>
          </p:cNvSpPr>
          <p:nvPr/>
        </p:nvSpPr>
        <p:spPr>
          <a:xfrm>
            <a:off x="6858000" y="20764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08BC5D1-E331-4D80-B70F-56559CD1925B}"/>
              </a:ext>
            </a:extLst>
          </p:cNvPr>
          <p:cNvSpPr>
            <a:spLocks noGrp="1"/>
          </p:cNvSpPr>
          <p:nvPr/>
        </p:nvSpPr>
        <p:spPr>
          <a:xfrm>
            <a:off x="6858000" y="23622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認証ごとに新しく発行し、検証完了まで保存する。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2A4AC50-6539-4B31-A568-4DF2337C84EA}"/>
              </a:ext>
            </a:extLst>
          </p:cNvPr>
          <p:cNvSpPr>
            <a:spLocks noGrp="1"/>
          </p:cNvSpPr>
          <p:nvPr/>
        </p:nvSpPr>
        <p:spPr>
          <a:xfrm>
            <a:off x="6667500" y="2952750"/>
            <a:ext cx="76200" cy="552450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53F33CA-C298-40BF-84E2-ED83B216DBBD}"/>
              </a:ext>
            </a:extLst>
          </p:cNvPr>
          <p:cNvSpPr>
            <a:spLocks noGrp="1"/>
          </p:cNvSpPr>
          <p:nvPr/>
        </p:nvSpPr>
        <p:spPr>
          <a:xfrm>
            <a:off x="6858000" y="29337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rpId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12AE136-DB5C-471C-B399-8DBDA60B6BF9}"/>
              </a:ext>
            </a:extLst>
          </p:cNvPr>
          <p:cNvSpPr>
            <a:spLocks noGrp="1"/>
          </p:cNvSpPr>
          <p:nvPr/>
        </p:nvSpPr>
        <p:spPr>
          <a:xfrm>
            <a:off x="6858000" y="321945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登録時と同じRP ID。対応する資格情報だけを探す。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F58BD44-ED42-4F74-AE7F-0B4DD6BFA785}"/>
              </a:ext>
            </a:extLst>
          </p:cNvPr>
          <p:cNvSpPr>
            <a:spLocks noGrp="1"/>
          </p:cNvSpPr>
          <p:nvPr/>
        </p:nvSpPr>
        <p:spPr>
          <a:xfrm>
            <a:off x="6667500" y="3810000"/>
            <a:ext cx="76200" cy="552450"/>
          </a:xfrm>
          <a:prstGeom prst="rect">
            <a:avLst/>
          </a:prstGeom>
          <a:solidFill>
            <a:srgbClr val="9A700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1E2DE0B-7768-42EE-A87A-D3DAD2630DE5}"/>
              </a:ext>
            </a:extLst>
          </p:cNvPr>
          <p:cNvSpPr>
            <a:spLocks noGrp="1"/>
          </p:cNvSpPr>
          <p:nvPr/>
        </p:nvSpPr>
        <p:spPr>
          <a:xfrm>
            <a:off x="6858000" y="37909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allowCredentials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4159036-0E12-4FE1-B33C-414C660ED690}"/>
              </a:ext>
            </a:extLst>
          </p:cNvPr>
          <p:cNvSpPr>
            <a:spLocks noGrp="1"/>
          </p:cNvSpPr>
          <p:nvPr/>
        </p:nvSpPr>
        <p:spPr>
          <a:xfrm>
            <a:off x="6858000" y="40767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指定あり: 候補を限定。省略: Discoverable Credentialから選択。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81EB0A9-B280-48FF-8752-4AE5BEA1EFD2}"/>
              </a:ext>
            </a:extLst>
          </p:cNvPr>
          <p:cNvSpPr>
            <a:spLocks noGrp="1"/>
          </p:cNvSpPr>
          <p:nvPr/>
        </p:nvSpPr>
        <p:spPr>
          <a:xfrm>
            <a:off x="6667500" y="4762500"/>
            <a:ext cx="76200" cy="552450"/>
          </a:xfrm>
          <a:prstGeom prst="rect">
            <a:avLst/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815AD0-E40A-4B51-B429-8B9AFF20300E}"/>
              </a:ext>
            </a:extLst>
          </p:cNvPr>
          <p:cNvSpPr>
            <a:spLocks noGrp="1"/>
          </p:cNvSpPr>
          <p:nvPr/>
        </p:nvSpPr>
        <p:spPr>
          <a:xfrm>
            <a:off x="6858000" y="47434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userVerification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8BE8F14-2EF6-4BB7-B9C8-44D0B04A4DB8}"/>
              </a:ext>
            </a:extLst>
          </p:cNvPr>
          <p:cNvSpPr>
            <a:spLocks noGrp="1"/>
          </p:cNvSpPr>
          <p:nvPr/>
        </p:nvSpPr>
        <p:spPr>
          <a:xfrm>
            <a:off x="6858000" y="50292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パスキーをログイン要件にするなら、サーバー検証も含めて要求する。</a:t>
            </a:r>
          </a:p>
        </p:txBody>
      </p:sp>
    </p:spTree>
    <p:extLst>
      <p:ext uri="{BB962C8B-B14F-4D97-AF65-F5344CB8AC3E}">
        <p14:creationId xmlns:p14="http://schemas.microsoft.com/office/powerpoint/2010/main" val="405079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A61ECAC8-5946-4604-90C9-FE00E175D16A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023C1ED-4571-43F8-B1E7-E8CDDDB4194A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16 / AUTH OUTPUT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3883AFF-ADD0-49C2-BBD2-DDC42912296C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認証結果は、Credential IDと署名を持つJSON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BACDE2E-2A2F-4EEC-BB17-E7DC76359DEC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426150-0EBB-4772-8ACD-75C3421F6877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17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5FE9498-7B54-433A-9132-8BD44E34EB9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09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Credential IDで保存済み公開鍵を検索し、signatureをその公開鍵で検証する。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57736BC3-2D83-4841-AD0C-0DFB0EFB79AA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5448300" cy="3886200"/>
          </a:xfrm>
          <a:prstGeom prst="roundRect">
            <a:avLst>
              <a:gd name="adj" fmla="val 1961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980B20-B43A-4730-BD8F-818B4F4863D8}"/>
              </a:ext>
            </a:extLst>
          </p:cNvPr>
          <p:cNvSpPr>
            <a:spLocks noGrp="1"/>
          </p:cNvSpPr>
          <p:nvPr/>
        </p:nvSpPr>
        <p:spPr>
          <a:xfrm>
            <a:off x="876300" y="2019300"/>
            <a:ext cx="5067300" cy="3619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AuthenticationResponseJSON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id: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rawId: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type: "public-key"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authenticatorAttachment?: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response: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clientDataJSON: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authenticatorData: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signature: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userHandle?: string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clientExtensionResults: object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74E138B-236B-444F-BB6F-042D8D7D750B}"/>
              </a:ext>
            </a:extLst>
          </p:cNvPr>
          <p:cNvSpPr>
            <a:spLocks noGrp="1"/>
          </p:cNvSpPr>
          <p:nvPr/>
        </p:nvSpPr>
        <p:spPr>
          <a:xfrm>
            <a:off x="6667500" y="2038350"/>
            <a:ext cx="76200" cy="552450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B97841E9-6A30-4191-AACF-F44C0A87E85D}"/>
              </a:ext>
            </a:extLst>
          </p:cNvPr>
          <p:cNvSpPr>
            <a:spLocks noGrp="1"/>
          </p:cNvSpPr>
          <p:nvPr/>
        </p:nvSpPr>
        <p:spPr>
          <a:xfrm>
            <a:off x="6858000" y="20193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id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020ADC8-0324-4CB5-AAE9-FF9EF150F38D}"/>
              </a:ext>
            </a:extLst>
          </p:cNvPr>
          <p:cNvSpPr>
            <a:spLocks noGrp="1"/>
          </p:cNvSpPr>
          <p:nvPr/>
        </p:nvSpPr>
        <p:spPr>
          <a:xfrm>
            <a:off x="6858000" y="230505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使用されたCredential ID。DBの公開鍵レコードを特定する。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4A3ECBB-A88E-4F06-98C0-6517BA03C27E}"/>
              </a:ext>
            </a:extLst>
          </p:cNvPr>
          <p:cNvSpPr>
            <a:spLocks noGrp="1"/>
          </p:cNvSpPr>
          <p:nvPr/>
        </p:nvSpPr>
        <p:spPr>
          <a:xfrm>
            <a:off x="6667500" y="2895600"/>
            <a:ext cx="76200" cy="552450"/>
          </a:xfrm>
          <a:prstGeom prst="rect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DD2FE7E-7AC3-4255-9285-A09806991F60}"/>
              </a:ext>
            </a:extLst>
          </p:cNvPr>
          <p:cNvSpPr>
            <a:spLocks noGrp="1"/>
          </p:cNvSpPr>
          <p:nvPr/>
        </p:nvSpPr>
        <p:spPr>
          <a:xfrm>
            <a:off x="6858000" y="28765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clientDataJSON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F487A08-EF62-4515-ADA8-DC6E7435324F}"/>
              </a:ext>
            </a:extLst>
          </p:cNvPr>
          <p:cNvSpPr>
            <a:spLocks noGrp="1"/>
          </p:cNvSpPr>
          <p:nvPr/>
        </p:nvSpPr>
        <p:spPr>
          <a:xfrm>
            <a:off x="6858000" y="31623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type = webauthn.get、challenge、originを含む。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C3A56C8-41DD-4851-AA24-8D8001B76052}"/>
              </a:ext>
            </a:extLst>
          </p:cNvPr>
          <p:cNvSpPr>
            <a:spLocks noGrp="1"/>
          </p:cNvSpPr>
          <p:nvPr/>
        </p:nvSpPr>
        <p:spPr>
          <a:xfrm>
            <a:off x="6667500" y="3752850"/>
            <a:ext cx="76200" cy="552450"/>
          </a:xfrm>
          <a:prstGeom prst="rect">
            <a:avLst/>
          </a:prstGeom>
          <a:solidFill>
            <a:srgbClr val="9A700B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14B38C9-E6DF-48DC-90B0-0AFA92D6A5F8}"/>
              </a:ext>
            </a:extLst>
          </p:cNvPr>
          <p:cNvSpPr>
            <a:spLocks noGrp="1"/>
          </p:cNvSpPr>
          <p:nvPr/>
        </p:nvSpPr>
        <p:spPr>
          <a:xfrm>
            <a:off x="6858000" y="373380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A700B"/>
                </a:solidFill>
                <a:latin typeface="Hiragino Sans"/>
                <a:ea typeface="Hiragino Sans"/>
                <a:cs typeface="Hiragino Sans"/>
              </a:rPr>
              <a:t>authenticatorData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938CFEA-F34D-4A20-81CF-D25DEB60F674}"/>
              </a:ext>
            </a:extLst>
          </p:cNvPr>
          <p:cNvSpPr>
            <a:spLocks noGrp="1"/>
          </p:cNvSpPr>
          <p:nvPr/>
        </p:nvSpPr>
        <p:spPr>
          <a:xfrm>
            <a:off x="6858000" y="401955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rpIdHash、UP / UV、signCountなどを含む。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2919D87-6EBA-417D-9197-26D55E2C75D6}"/>
              </a:ext>
            </a:extLst>
          </p:cNvPr>
          <p:cNvSpPr>
            <a:spLocks noGrp="1"/>
          </p:cNvSpPr>
          <p:nvPr/>
        </p:nvSpPr>
        <p:spPr>
          <a:xfrm>
            <a:off x="6667500" y="4610100"/>
            <a:ext cx="76200" cy="552450"/>
          </a:xfrm>
          <a:prstGeom prst="rect">
            <a:avLst/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0BE5215-4DCA-4F8E-BBA5-BE7C118201ED}"/>
              </a:ext>
            </a:extLst>
          </p:cNvPr>
          <p:cNvSpPr>
            <a:spLocks noGrp="1"/>
          </p:cNvSpPr>
          <p:nvPr/>
        </p:nvSpPr>
        <p:spPr>
          <a:xfrm>
            <a:off x="6858000" y="4591050"/>
            <a:ext cx="419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signature / userHandle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1214BDF-839B-4620-A9E8-2D9E7433F6AC}"/>
              </a:ext>
            </a:extLst>
          </p:cNvPr>
          <p:cNvSpPr>
            <a:spLocks noGrp="1"/>
          </p:cNvSpPr>
          <p:nvPr/>
        </p:nvSpPr>
        <p:spPr>
          <a:xfrm>
            <a:off x="6858000" y="48768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署名本体。userHandleはユーザー名なし認証でアカウント特定に使える。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6D07B56A-BB92-42B5-9C0E-FEDB13CA61C5}"/>
              </a:ext>
            </a:extLst>
          </p:cNvPr>
          <p:cNvSpPr>
            <a:spLocks noGrp="1"/>
          </p:cNvSpPr>
          <p:nvPr/>
        </p:nvSpPr>
        <p:spPr>
          <a:xfrm>
            <a:off x="6667500" y="5524500"/>
            <a:ext cx="4381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JSONのまま response として</a:t>
            </a:r>
          </a:p>
          <a:p>
            <a:pPr algn="l">
              <a:lnSpc>
                <a:spcPct val="108000"/>
              </a:lnSpc>
              <a:buNone/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verifyAuthenticationResponse()へ渡す。</a:t>
            </a:r>
          </a:p>
        </p:txBody>
      </p:sp>
    </p:spTree>
    <p:extLst>
      <p:ext uri="{BB962C8B-B14F-4D97-AF65-F5344CB8AC3E}">
        <p14:creationId xmlns:p14="http://schemas.microsoft.com/office/powerpoint/2010/main" val="1975680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DCC5FA2-DD78-4B0C-B209-2E09731543DB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BA0367-4B84-42E6-A6AB-E0B9136E0BB3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17 / VERIFY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0B24FBA-6585-48A4-9397-BDBFA7812C04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検証には、レスポンスと保存済み公開鍵レコードを渡す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737A85A-B5A4-4E3C-A909-85A65DE90963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D46800E-7E9C-40A6-9020-3ECBBC543AC4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18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9F228ED-243D-45FC-ABEB-1AF410B645E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challenge・origin・RP ID・UP/UV・署名をまとめて検証し、成功後にcounterを更新する。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BEDEEFC-56C8-48A9-9D19-8690722E1156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入力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7CA363CE-5C03-4E23-B476-85D5306F8F9E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5334000" cy="3067050"/>
          </a:xfrm>
          <a:prstGeom prst="roundRect">
            <a:avLst>
              <a:gd name="adj" fmla="val 2484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2EDEA09-69B3-46EA-942C-0DEF17D0A008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4953000" cy="2800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verifyAuthenticationResponse({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response: AuthenticationResponseJSON,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expectedChallenge: storedChallenge,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expectedOrigin: "https://example.com",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expectedRPID: "example.com",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credential: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id: stored.id,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publicKey: stored.publicKey,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counter: stored.counter,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transports: stored.transports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requireUserVerification?: true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70DD9F3-21B9-4EA8-9117-9FA0697EADAA}"/>
              </a:ext>
            </a:extLst>
          </p:cNvPr>
          <p:cNvSpPr>
            <a:spLocks noGrp="1"/>
          </p:cNvSpPr>
          <p:nvPr/>
        </p:nvSpPr>
        <p:spPr>
          <a:xfrm>
            <a:off x="6419850" y="18478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返り値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0CF813BA-E2BB-4462-985B-4554A6E9A40F}"/>
              </a:ext>
            </a:extLst>
          </p:cNvPr>
          <p:cNvSpPr>
            <a:spLocks noGrp="1"/>
          </p:cNvSpPr>
          <p:nvPr/>
        </p:nvSpPr>
        <p:spPr>
          <a:xfrm>
            <a:off x="6419850" y="2209800"/>
            <a:ext cx="5086350" cy="2724150"/>
          </a:xfrm>
          <a:prstGeom prst="roundRect">
            <a:avLst>
              <a:gd name="adj" fmla="val 2797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5CDF1E1-73A3-4C09-8CB4-E15720109510}"/>
              </a:ext>
            </a:extLst>
          </p:cNvPr>
          <p:cNvSpPr>
            <a:spLocks noGrp="1"/>
          </p:cNvSpPr>
          <p:nvPr/>
        </p:nvSpPr>
        <p:spPr>
          <a:xfrm>
            <a:off x="6610350" y="2343150"/>
            <a:ext cx="470535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verified: boolean,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authenticationInfo: 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newCounter: number,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credentialID: string,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userVerified: boolean,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credentialDeviceType,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  credentialBackedUp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}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1183D1E7-0C14-44C4-B291-423A42772501}"/>
              </a:ext>
            </a:extLst>
          </p:cNvPr>
          <p:cNvSpPr>
            <a:spLocks noGrp="1"/>
          </p:cNvSpPr>
          <p:nvPr/>
        </p:nvSpPr>
        <p:spPr>
          <a:xfrm>
            <a:off x="6419850" y="5181600"/>
            <a:ext cx="5086350" cy="800100"/>
          </a:xfrm>
          <a:prstGeom prst="roundRect">
            <a:avLst>
              <a:gd name="adj" fmla="val 9524"/>
            </a:avLst>
          </a:prstGeom>
          <a:solidFill>
            <a:srgbClr val="DFF3EF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29DE15F-0339-4371-A065-0AA1012EE2F3}"/>
              </a:ext>
            </a:extLst>
          </p:cNvPr>
          <p:cNvSpPr>
            <a:spLocks noGrp="1"/>
          </p:cNvSpPr>
          <p:nvPr/>
        </p:nvSpPr>
        <p:spPr>
          <a:xfrm>
            <a:off x="6648450" y="53530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成功後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119106FA-CFB5-4B38-9C07-E77D99DD3405}"/>
              </a:ext>
            </a:extLst>
          </p:cNvPr>
          <p:cNvSpPr>
            <a:spLocks noGrp="1"/>
          </p:cNvSpPr>
          <p:nvPr/>
        </p:nvSpPr>
        <p:spPr>
          <a:xfrm>
            <a:off x="7715250" y="5314950"/>
            <a:ext cx="3524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newCounterを保存 → challengeを消費 → セッション発行</a:t>
            </a:r>
          </a:p>
        </p:txBody>
      </p:sp>
    </p:spTree>
    <p:extLst>
      <p:ext uri="{BB962C8B-B14F-4D97-AF65-F5344CB8AC3E}">
        <p14:creationId xmlns:p14="http://schemas.microsoft.com/office/powerpoint/2010/main" val="389644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AADDF45-B51D-4D93-97F6-79F66AECFFE7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26B4C03-91BA-4856-AEAF-50914271D810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18 / SIMPLEWEBAUTHN BROWSER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F1A259E-78E2-49B2-8586-CCC0AB313C64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@simplewebauthn/browserは、ブラウザ実装の境界を薄くする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A06E13A-7C0B-40B4-908F-D4E5BFCD6249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D5F29C1-3577-466A-A523-0DD99DBADF1B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19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D50BFF-E5A0-4618-866F-BD7663DE2E3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WebAuthn APIを置き換えるのではなく、呼び出し・変換・エラー処理をまとめるラッパー。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B8FDEEB-BCA9-49FE-9C00-3A392B3BA642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2C4047"/>
                </a:solidFill>
                <a:latin typeface="Hiragino Sans"/>
                <a:ea typeface="Hiragino Sans"/>
                <a:cs typeface="Hiragino Sans"/>
              </a:rPr>
              <a:t>直接呼び出す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8E73AC5F-42F0-40E0-AE3C-196BE5E1F459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762500" cy="1962150"/>
          </a:xfrm>
          <a:prstGeom prst="roundRect">
            <a:avLst>
              <a:gd name="adj" fmla="val 3883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1CF4DEE-EBB8-4CB5-9F4E-44DA98CC34E4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3815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const credential = await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navigator.credentials.create({ publicKey })</a:t>
            </a:r>
          </a:p>
          <a:p>
            <a:endParaRPr sz="1200" b="0" i="0">
              <a:solidFill>
                <a:srgbClr val="F2F7F6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// Base64URL ⇄ ArrayBufferを自分で変換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// PublicKeyCredentialをJSON化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A8CED5-E310-4682-9DDB-5B53B7DE9C13}"/>
              </a:ext>
            </a:extLst>
          </p:cNvPr>
          <p:cNvSpPr>
            <a:spLocks noGrp="1"/>
          </p:cNvSpPr>
          <p:nvPr/>
        </p:nvSpPr>
        <p:spPr>
          <a:xfrm>
            <a:off x="6076950" y="1885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ライブラリを使う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B9BDFA6D-9A08-4ED5-B074-E8F8C1174994}"/>
              </a:ext>
            </a:extLst>
          </p:cNvPr>
          <p:cNvSpPr>
            <a:spLocks noGrp="1"/>
          </p:cNvSpPr>
          <p:nvPr/>
        </p:nvSpPr>
        <p:spPr>
          <a:xfrm>
            <a:off x="6076950" y="2324100"/>
            <a:ext cx="5429250" cy="1962150"/>
          </a:xfrm>
          <a:prstGeom prst="roundRect">
            <a:avLst>
              <a:gd name="adj" fmla="val 3883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831B222-3DF2-40E4-BA5C-E8C87F261386}"/>
              </a:ext>
            </a:extLst>
          </p:cNvPr>
          <p:cNvSpPr>
            <a:spLocks noGrp="1"/>
          </p:cNvSpPr>
          <p:nvPr/>
        </p:nvSpPr>
        <p:spPr>
          <a:xfrm>
            <a:off x="6267450" y="2457450"/>
            <a:ext cx="504825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const response = await startRegistration({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optionsJSON,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})</a:t>
            </a:r>
          </a:p>
          <a:p>
            <a:endParaRPr sz="1200" b="0" i="0">
              <a:solidFill>
                <a:srgbClr val="F2F7F6"/>
              </a:solidFill>
              <a:latin typeface="Menlo"/>
              <a:ea typeface="Menlo"/>
              <a:cs typeface="Menlo"/>
            </a:endParaRP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const response = await startAuthentication({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optionsJSON,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  useBrowserAutofill: true,</a:t>
            </a:r>
          </a:p>
          <a:p>
            <a:pPr algn="l">
              <a:lnSpc>
                <a:spcPct val="105000"/>
              </a:lnSpc>
              <a:buNone/>
              <a:defRPr sz="1200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})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E23EDD3-530E-46DB-99E7-75538955F517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1C253D1-68BC-4B9F-9B4C-76BDE4BB1A91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任せられる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863EA64-B716-443D-908E-598804355F42}"/>
              </a:ext>
            </a:extLst>
          </p:cNvPr>
          <p:cNvSpPr>
            <a:spLocks noGrp="1"/>
          </p:cNvSpPr>
          <p:nvPr/>
        </p:nvSpPr>
        <p:spPr>
          <a:xfrm>
            <a:off x="2038350" y="4857750"/>
            <a:ext cx="914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Base64URL変換  /  対応判定  /  Conditional UI  /  重複呼び出しの中断  /  WebAuthnError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911842E-A6AA-49BB-B2C5-66B6516B3ED1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任せられない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CDE7D4A-6477-4CEC-981F-4F06CA451321}"/>
              </a:ext>
            </a:extLst>
          </p:cNvPr>
          <p:cNvSpPr>
            <a:spLocks noGrp="1"/>
          </p:cNvSpPr>
          <p:nvPr/>
        </p:nvSpPr>
        <p:spPr>
          <a:xfrm>
            <a:off x="2038350" y="5391150"/>
            <a:ext cx="914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サーバーとのfetch  /  challenge保存  /  署名検証  /  DB更新  /  セッション発行</a:t>
            </a:r>
          </a:p>
        </p:txBody>
      </p:sp>
    </p:spTree>
    <p:extLst>
      <p:ext uri="{BB962C8B-B14F-4D97-AF65-F5344CB8AC3E}">
        <p14:creationId xmlns:p14="http://schemas.microsoft.com/office/powerpoint/2010/main" val="161464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C79066C-1AE4-484E-9AEA-1384BAF15CD3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05FD82-C7C2-421E-8562-49445A665B5C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19 / SIGNED DATA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E1EC85D-B3C4-4B7A-A9FC-7FE3A8B26520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署名対象はchallenge単体ではなく、2つのデータの連結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F8BAD67-6CFA-49EC-9AD1-CED1AF1CA1F2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31D3ABD-992E-4119-AB58-1A879A62128F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20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C8655703-B9A5-4EEF-9B3A-AAB246C3E573}"/>
              </a:ext>
            </a:extLst>
          </p:cNvPr>
          <p:cNvSpPr>
            <a:spLocks noGrp="1"/>
          </p:cNvSpPr>
          <p:nvPr/>
        </p:nvSpPr>
        <p:spPr>
          <a:xfrm>
            <a:off x="1809750" y="1600200"/>
            <a:ext cx="8572500" cy="781050"/>
          </a:xfrm>
          <a:prstGeom prst="roundRect">
            <a:avLst>
              <a:gd name="adj" fmla="val 9756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3695FC7-A858-4A35-BC0A-8569A485A05C}"/>
              </a:ext>
            </a:extLst>
          </p:cNvPr>
          <p:cNvSpPr>
            <a:spLocks noGrp="1"/>
          </p:cNvSpPr>
          <p:nvPr/>
        </p:nvSpPr>
        <p:spPr>
          <a:xfrm>
            <a:off x="2000250" y="1733550"/>
            <a:ext cx="819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buNone/>
              <a:defRPr sz="1725" b="0" i="0">
                <a:solidFill>
                  <a:srgbClr val="F2F7F6"/>
                </a:solidFill>
                <a:latin typeface="Menlo"/>
                <a:ea typeface="Menlo"/>
                <a:cs typeface="Menlo"/>
              </a:defRPr>
            </a:pPr>
            <a:r>
              <a:rPr sz="1725" b="0" i="0">
                <a:solidFill>
                  <a:srgbClr val="F2F7F6"/>
                </a:solidFill>
                <a:latin typeface="Menlo"/>
                <a:ea typeface="Menlo"/>
                <a:cs typeface="Menlo"/>
              </a:rPr>
              <a:t>authenticatorData  ||  SHA-256(clientDataJSON)</a:t>
            </a: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329E6528-650D-43A7-99B0-A5F3E160D208}"/>
              </a:ext>
            </a:extLst>
          </p:cNvPr>
          <p:cNvSpPr>
            <a:spLocks noGrp="1"/>
          </p:cNvSpPr>
          <p:nvPr/>
        </p:nvSpPr>
        <p:spPr>
          <a:xfrm>
            <a:off x="4705350" y="3448050"/>
            <a:ext cx="762000" cy="228600"/>
          </a:xfrm>
          <a:prstGeom prst="rightArrow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3352550-78AB-497B-9366-1DD96082DF19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0F9D8C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0F9D8C"/>
                </a:solidFill>
                <a:latin typeface="Menlo"/>
                <a:ea typeface="Menlo"/>
                <a:cs typeface="Menlo"/>
              </a:rPr>
              <a:t>authenticatorData</a:t>
            </a: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D241A8C9-4BCC-4933-8951-1D88309DE3A0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95250" cy="952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03DD37A-9619-45BD-BDF8-9FD0C0EB8D3C}"/>
              </a:ext>
            </a:extLst>
          </p:cNvPr>
          <p:cNvSpPr>
            <a:spLocks noGrp="1"/>
          </p:cNvSpPr>
          <p:nvPr/>
        </p:nvSpPr>
        <p:spPr>
          <a:xfrm>
            <a:off x="685800" y="354330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5100896-564C-4454-9C2C-5A23BF67C571}"/>
              </a:ext>
            </a:extLst>
          </p:cNvPr>
          <p:cNvSpPr>
            <a:spLocks noGrp="1"/>
          </p:cNvSpPr>
          <p:nvPr/>
        </p:nvSpPr>
        <p:spPr>
          <a:xfrm>
            <a:off x="914400" y="344805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rpIdHash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C0ABA9E6-2310-4189-98BC-B2B3D4836D90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95250" cy="952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914D7B9-2A80-4C09-9523-3CE9021EC83D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AA0CBB5-626C-4855-900B-82B19EAEFFFC}"/>
              </a:ext>
            </a:extLst>
          </p:cNvPr>
          <p:cNvSpPr>
            <a:spLocks noGrp="1"/>
          </p:cNvSpPr>
          <p:nvPr/>
        </p:nvSpPr>
        <p:spPr>
          <a:xfrm>
            <a:off x="914400" y="400050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UP / UVフラグ</a:t>
            </a:r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ACCEAD6A-62DC-4D17-9355-7B090CE7759E}"/>
              </a:ext>
            </a:extLst>
          </p:cNvPr>
          <p:cNvSpPr>
            <a:spLocks noGrp="1"/>
          </p:cNvSpPr>
          <p:nvPr/>
        </p:nvSpPr>
        <p:spPr>
          <a:xfrm>
            <a:off x="685800" y="4629150"/>
            <a:ext cx="95250" cy="952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ED1B1CFF-1C8E-47CF-8AFC-FBF33B40D327}"/>
              </a:ext>
            </a:extLst>
          </p:cNvPr>
          <p:cNvSpPr>
            <a:spLocks noGrp="1"/>
          </p:cNvSpPr>
          <p:nvPr/>
        </p:nvSpPr>
        <p:spPr>
          <a:xfrm>
            <a:off x="685800" y="464820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012B576-74EA-4066-A0D3-5954A2E3DE31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signCount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F90C0BC-C961-4DFC-8710-276E657065C4}"/>
              </a:ext>
            </a:extLst>
          </p:cNvPr>
          <p:cNvSpPr>
            <a:spLocks noGrp="1"/>
          </p:cNvSpPr>
          <p:nvPr/>
        </p:nvSpPr>
        <p:spPr>
          <a:xfrm>
            <a:off x="6172200" y="2876550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1" i="0">
                <a:solidFill>
                  <a:srgbClr val="3569D4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3569D4"/>
                </a:solidFill>
                <a:latin typeface="Menlo"/>
                <a:ea typeface="Menlo"/>
                <a:cs typeface="Menlo"/>
              </a:rPr>
              <a:t>clientDataJSON</a:t>
            </a:r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FBA9BD4F-28D9-4450-86B4-7108C3349027}"/>
              </a:ext>
            </a:extLst>
          </p:cNvPr>
          <p:cNvSpPr>
            <a:spLocks noGrp="1"/>
          </p:cNvSpPr>
          <p:nvPr/>
        </p:nvSpPr>
        <p:spPr>
          <a:xfrm>
            <a:off x="6172200" y="3524250"/>
            <a:ext cx="95250" cy="952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1D226DD-0485-4635-A69B-4653C75DB8E9}"/>
              </a:ext>
            </a:extLst>
          </p:cNvPr>
          <p:cNvSpPr>
            <a:spLocks noGrp="1"/>
          </p:cNvSpPr>
          <p:nvPr/>
        </p:nvSpPr>
        <p:spPr>
          <a:xfrm>
            <a:off x="6172200" y="354330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CD997B2-5057-426C-85EF-5DA7FC0FF24B}"/>
              </a:ext>
            </a:extLst>
          </p:cNvPr>
          <p:cNvSpPr>
            <a:spLocks noGrp="1"/>
          </p:cNvSpPr>
          <p:nvPr/>
        </p:nvSpPr>
        <p:spPr>
          <a:xfrm>
            <a:off x="6400800" y="344805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type</a:t>
            </a: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4AE906C3-51C6-4821-8211-F81F0E943C86}"/>
              </a:ext>
            </a:extLst>
          </p:cNvPr>
          <p:cNvSpPr>
            <a:spLocks noGrp="1"/>
          </p:cNvSpPr>
          <p:nvPr/>
        </p:nvSpPr>
        <p:spPr>
          <a:xfrm>
            <a:off x="6172200" y="4076700"/>
            <a:ext cx="95250" cy="952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E5C0AF9-1D35-4D3B-9EA7-A5C80188AD04}"/>
              </a:ext>
            </a:extLst>
          </p:cNvPr>
          <p:cNvSpPr>
            <a:spLocks noGrp="1"/>
          </p:cNvSpPr>
          <p:nvPr/>
        </p:nvSpPr>
        <p:spPr>
          <a:xfrm>
            <a:off x="6172200" y="409575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6FA36DC-92C0-4684-ADDE-79BF02281570}"/>
              </a:ext>
            </a:extLst>
          </p:cNvPr>
          <p:cNvSpPr>
            <a:spLocks noGrp="1"/>
          </p:cNvSpPr>
          <p:nvPr/>
        </p:nvSpPr>
        <p:spPr>
          <a:xfrm>
            <a:off x="6400800" y="400050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challenge</a:t>
            </a:r>
          </a:p>
        </p:txBody>
      </p:sp>
      <p:sp>
        <p:nvSpPr>
          <p:cNvPr id="26" name="円/楕円 25">
            <a:extLst>
              <a:ext uri="{FF2B5EF4-FFF2-40B4-BE49-F238E27FC236}">
                <a16:creationId xmlns:a16="http://schemas.microsoft.com/office/drawing/2014/main" id="{8D7A69D8-E89D-43A1-846D-C1E440C2B73C}"/>
              </a:ext>
            </a:extLst>
          </p:cNvPr>
          <p:cNvSpPr>
            <a:spLocks noGrp="1"/>
          </p:cNvSpPr>
          <p:nvPr/>
        </p:nvSpPr>
        <p:spPr>
          <a:xfrm>
            <a:off x="6172200" y="4629150"/>
            <a:ext cx="95250" cy="952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7F4348F3-BD7B-405C-A9A4-0579C2FB22A1}"/>
              </a:ext>
            </a:extLst>
          </p:cNvPr>
          <p:cNvSpPr>
            <a:spLocks noGrp="1"/>
          </p:cNvSpPr>
          <p:nvPr/>
        </p:nvSpPr>
        <p:spPr>
          <a:xfrm>
            <a:off x="6172200" y="4648200"/>
            <a:ext cx="952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endParaRPr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C223416-E9F9-4413-A126-5F5E7E3BEF0A}"/>
              </a:ext>
            </a:extLst>
          </p:cNvPr>
          <p:cNvSpPr>
            <a:spLocks noGrp="1"/>
          </p:cNvSpPr>
          <p:nvPr/>
        </p:nvSpPr>
        <p:spPr>
          <a:xfrm>
            <a:off x="6400800" y="4552950"/>
            <a:ext cx="31051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origin</a:t>
            </a:r>
          </a:p>
        </p:txBody>
      </p:sp>
      <p:sp>
        <p:nvSpPr>
          <p:cNvPr id="29" name="角丸四角形 28">
            <a:extLst>
              <a:ext uri="{FF2B5EF4-FFF2-40B4-BE49-F238E27FC236}">
                <a16:creationId xmlns:a16="http://schemas.microsoft.com/office/drawing/2014/main" id="{D42202A0-4E9B-42B9-B20E-4229DE01C59D}"/>
              </a:ext>
            </a:extLst>
          </p:cNvPr>
          <p:cNvSpPr>
            <a:spLocks noGrp="1"/>
          </p:cNvSpPr>
          <p:nvPr/>
        </p:nvSpPr>
        <p:spPr>
          <a:xfrm>
            <a:off x="685800" y="5257800"/>
            <a:ext cx="10820400" cy="666750"/>
          </a:xfrm>
          <a:prstGeom prst="roundRect">
            <a:avLst>
              <a:gd name="adj" fmla="val 11429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8725A8F1-2115-4E17-9E55-39FC96319A3B}"/>
              </a:ext>
            </a:extLst>
          </p:cNvPr>
          <p:cNvSpPr>
            <a:spLocks noGrp="1"/>
          </p:cNvSpPr>
          <p:nvPr/>
        </p:nvSpPr>
        <p:spPr>
          <a:xfrm>
            <a:off x="914400" y="5457825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RPが確認できること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D22C186-659A-46C0-9F85-6112DA276CBF}"/>
              </a:ext>
            </a:extLst>
          </p:cNvPr>
          <p:cNvSpPr>
            <a:spLocks noGrp="1"/>
          </p:cNvSpPr>
          <p:nvPr/>
        </p:nvSpPr>
        <p:spPr>
          <a:xfrm>
            <a:off x="2857500" y="542925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今回のchallenge  /  期待したorigin・RP ID  /  ユーザー操作・本人確認  /  秘密鍵の所持</a:t>
            </a:r>
          </a:p>
        </p:txBody>
      </p:sp>
    </p:spTree>
    <p:extLst>
      <p:ext uri="{BB962C8B-B14F-4D97-AF65-F5344CB8AC3E}">
        <p14:creationId xmlns:p14="http://schemas.microsoft.com/office/powerpoint/2010/main" val="1177258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0E85F40-D1DB-4C0D-A205-14472827DA12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FD74007-E32D-4475-A719-97D3ABDC874E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20 / PHISHING RESISTANCE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A22E0BE-54D3-4E55-8C20-A73F568D6DEE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資格情報はRP IDに紐づくため、別ドメインでは使えない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12031E8-E497-406E-A3CB-3FEEEEB59AB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61F8FC3-01D9-420F-87FD-0798435883EA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21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29C1428-0974-4057-BC97-86B291AE3140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認証器のスコープ制御と、サーバー側のorigin検証が組み合わさる。</a:t>
            </a:r>
          </a:p>
        </p:txBody>
      </p:sp>
      <p:sp>
        <p:nvSpPr>
          <p:cNvPr id="7" name="右矢印 6">
            <a:extLst>
              <a:ext uri="{FF2B5EF4-FFF2-40B4-BE49-F238E27FC236}">
                <a16:creationId xmlns:a16="http://schemas.microsoft.com/office/drawing/2014/main" id="{8CD676C9-C318-4B3E-B4BA-47DB9A3432EC}"/>
              </a:ext>
            </a:extLst>
          </p:cNvPr>
          <p:cNvSpPr>
            <a:spLocks noGrp="1"/>
          </p:cNvSpPr>
          <p:nvPr/>
        </p:nvSpPr>
        <p:spPr>
          <a:xfrm>
            <a:off x="3143250" y="2571750"/>
            <a:ext cx="876300" cy="228600"/>
          </a:xfrm>
          <a:prstGeom prst="righ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20EA7442-DC03-4739-B7AF-2F9DA6F871A0}"/>
              </a:ext>
            </a:extLst>
          </p:cNvPr>
          <p:cNvSpPr>
            <a:spLocks noGrp="1"/>
          </p:cNvSpPr>
          <p:nvPr/>
        </p:nvSpPr>
        <p:spPr>
          <a:xfrm>
            <a:off x="3143250" y="4476750"/>
            <a:ext cx="876300" cy="228600"/>
          </a:xfrm>
          <a:prstGeom prst="rightArrow">
            <a:avLst/>
          </a:prstGeom>
          <a:solidFill>
            <a:srgbClr val="C94A4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右矢印 8">
            <a:extLst>
              <a:ext uri="{FF2B5EF4-FFF2-40B4-BE49-F238E27FC236}">
                <a16:creationId xmlns:a16="http://schemas.microsoft.com/office/drawing/2014/main" id="{156171E4-8F17-4738-B5B4-C5B9BA7F2538}"/>
              </a:ext>
            </a:extLst>
          </p:cNvPr>
          <p:cNvSpPr>
            <a:spLocks noGrp="1"/>
          </p:cNvSpPr>
          <p:nvPr/>
        </p:nvSpPr>
        <p:spPr>
          <a:xfrm>
            <a:off x="7105650" y="2571750"/>
            <a:ext cx="876300" cy="228600"/>
          </a:xfrm>
          <a:prstGeom prst="rightArrow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45BB09E-A113-483F-B313-839B62C2E14D}"/>
              </a:ext>
            </a:extLst>
          </p:cNvPr>
          <p:cNvSpPr>
            <a:spLocks noGrp="1"/>
          </p:cNvSpPr>
          <p:nvPr/>
        </p:nvSpPr>
        <p:spPr>
          <a:xfrm>
            <a:off x="5772150" y="3981450"/>
            <a:ext cx="57150" cy="1409700"/>
          </a:xfrm>
          <a:prstGeom prst="rect">
            <a:avLst/>
          </a:prstGeom>
          <a:solidFill>
            <a:srgbClr val="C94A4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920250D8-AE63-4191-AAAC-7F507CB001CE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正規サイト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63DAAB8-4E08-4EC0-8E9A-574C2671520D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500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login.example.com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D8ED0BD-7C2E-438E-8F73-1A35146DF114}"/>
              </a:ext>
            </a:extLst>
          </p:cNvPr>
          <p:cNvSpPr>
            <a:spLocks noGrp="1"/>
          </p:cNvSpPr>
          <p:nvPr/>
        </p:nvSpPr>
        <p:spPr>
          <a:xfrm>
            <a:off x="685800" y="2895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5C7077"/>
                </a:solidFill>
                <a:latin typeface="Menlo"/>
                <a:ea typeface="Menlo"/>
                <a:cs typeface="Menlo"/>
              </a:defRPr>
            </a:pPr>
            <a:r>
              <a:rPr sz="1275" b="0" i="0">
                <a:solidFill>
                  <a:srgbClr val="5C7077"/>
                </a:solidFill>
                <a:latin typeface="Menlo"/>
                <a:ea typeface="Menlo"/>
                <a:cs typeface="Menlo"/>
              </a:rPr>
              <a:t>RP ID = example.com</a:t>
            </a: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A4384586-6918-44D8-A523-E9CA34D6B1A0}"/>
              </a:ext>
            </a:extLst>
          </p:cNvPr>
          <p:cNvSpPr>
            <a:spLocks noGrp="1"/>
          </p:cNvSpPr>
          <p:nvPr/>
        </p:nvSpPr>
        <p:spPr>
          <a:xfrm>
            <a:off x="4038600" y="2019300"/>
            <a:ext cx="3048000" cy="1257300"/>
          </a:xfrm>
          <a:prstGeom prst="roundRect">
            <a:avLst>
              <a:gd name="adj" fmla="val 6061"/>
            </a:avLst>
          </a:prstGeom>
          <a:solidFill>
            <a:srgbClr val="DFF3EF"/>
          </a:solidFill>
          <a:ln w="19050">
            <a:solidFill>
              <a:srgbClr val="0F9D8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DF16C708-6D45-4A18-BA41-CF7CD656DCAC}"/>
              </a:ext>
            </a:extLst>
          </p:cNvPr>
          <p:cNvSpPr>
            <a:spLocks noGrp="1"/>
          </p:cNvSpPr>
          <p:nvPr/>
        </p:nvSpPr>
        <p:spPr>
          <a:xfrm>
            <a:off x="4324350" y="22288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認証器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A50A709-F40C-4137-8CE3-6A715A45B35F}"/>
              </a:ext>
            </a:extLst>
          </p:cNvPr>
          <p:cNvSpPr>
            <a:spLocks noGrp="1"/>
          </p:cNvSpPr>
          <p:nvPr/>
        </p:nvSpPr>
        <p:spPr>
          <a:xfrm>
            <a:off x="4324350" y="266700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RP IDに対応する資格情報を選び</a:t>
            </a:r>
          </a:p>
          <a:p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秘密鍵で署名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A5763C58-55EC-4783-B6E3-36683340B26E}"/>
              </a:ext>
            </a:extLst>
          </p:cNvPr>
          <p:cNvSpPr>
            <a:spLocks noGrp="1"/>
          </p:cNvSpPr>
          <p:nvPr/>
        </p:nvSpPr>
        <p:spPr>
          <a:xfrm>
            <a:off x="8001000" y="2019300"/>
            <a:ext cx="3143250" cy="1257300"/>
          </a:xfrm>
          <a:prstGeom prst="roundRect">
            <a:avLst>
              <a:gd name="adj" fmla="val 6061"/>
            </a:avLst>
          </a:prstGeom>
          <a:solidFill>
            <a:srgbClr val="E6EDFC"/>
          </a:solidFill>
          <a:ln w="19050">
            <a:solidFill>
              <a:srgbClr val="3569D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C18CEA0-7EC1-454C-888D-9B75E0CFE54C}"/>
              </a:ext>
            </a:extLst>
          </p:cNvPr>
          <p:cNvSpPr>
            <a:spLocks noGrp="1"/>
          </p:cNvSpPr>
          <p:nvPr/>
        </p:nvSpPr>
        <p:spPr>
          <a:xfrm>
            <a:off x="8286750" y="22288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defRPr>
            </a:pPr>
            <a:r>
              <a:rPr sz="1875" b="1" i="0">
                <a:solidFill>
                  <a:srgbClr val="3569D4"/>
                </a:solidFill>
                <a:latin typeface="Hiragino Sans"/>
                <a:ea typeface="Hiragino Sans"/>
                <a:cs typeface="Hiragino Sans"/>
              </a:rPr>
              <a:t>RPサーバー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F136DC1-F0BE-4E6E-B833-CB628257126B}"/>
              </a:ext>
            </a:extLst>
          </p:cNvPr>
          <p:cNvSpPr>
            <a:spLocks noGrp="1"/>
          </p:cNvSpPr>
          <p:nvPr/>
        </p:nvSpPr>
        <p:spPr>
          <a:xfrm>
            <a:off x="8286750" y="266700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origin・RP ID・署名を検証</a:t>
            </a:r>
          </a:p>
          <a:p>
            <a:pPr algn="ctr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→ 認証成功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3C8A629-966C-41EC-8255-0965A68A3CCF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偽サイト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93BC9BF-E9D2-4436-B9E7-AD5D9CDC3F47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1" i="0">
                <a:solidFill>
                  <a:srgbClr val="102A33"/>
                </a:solidFill>
                <a:latin typeface="Menlo"/>
                <a:ea typeface="Menlo"/>
                <a:cs typeface="Menlo"/>
              </a:defRPr>
            </a:pPr>
            <a:r>
              <a:rPr sz="1200" b="1" i="0">
                <a:solidFill>
                  <a:srgbClr val="102A33"/>
                </a:solidFill>
                <a:latin typeface="Menlo"/>
                <a:ea typeface="Menlo"/>
                <a:cs typeface="Menlo"/>
              </a:rPr>
              <a:t>login-example.attacker.test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4AF61985-2A35-47E7-B875-BE36E9EC4910}"/>
              </a:ext>
            </a:extLst>
          </p:cNvPr>
          <p:cNvSpPr>
            <a:spLocks noGrp="1"/>
          </p:cNvSpPr>
          <p:nvPr/>
        </p:nvSpPr>
        <p:spPr>
          <a:xfrm>
            <a:off x="685800" y="480060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RP IDが一致しない</a:t>
            </a:r>
          </a:p>
        </p:txBody>
      </p:sp>
      <p:sp>
        <p:nvSpPr>
          <p:cNvPr id="23" name="円/楕円 22">
            <a:extLst>
              <a:ext uri="{FF2B5EF4-FFF2-40B4-BE49-F238E27FC236}">
                <a16:creationId xmlns:a16="http://schemas.microsoft.com/office/drawing/2014/main" id="{403DE4B8-E04C-4567-894E-53703CA7B772}"/>
              </a:ext>
            </a:extLst>
          </p:cNvPr>
          <p:cNvSpPr>
            <a:spLocks noGrp="1"/>
          </p:cNvSpPr>
          <p:nvPr/>
        </p:nvSpPr>
        <p:spPr>
          <a:xfrm>
            <a:off x="5067300" y="4305300"/>
            <a:ext cx="781050" cy="781050"/>
          </a:xfrm>
          <a:prstGeom prst="ellipse">
            <a:avLst/>
          </a:prstGeom>
          <a:solidFill>
            <a:srgbClr val="C94A4A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9754960-210F-424B-8A6C-69E6C4CD0A5A}"/>
              </a:ext>
            </a:extLst>
          </p:cNvPr>
          <p:cNvSpPr>
            <a:spLocks noGrp="1"/>
          </p:cNvSpPr>
          <p:nvPr/>
        </p:nvSpPr>
        <p:spPr>
          <a:xfrm>
            <a:off x="5067300" y="4324350"/>
            <a:ext cx="7810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2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×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8A3FF07-3924-49D2-901C-AA3A052A2DC1}"/>
              </a:ext>
            </a:extLst>
          </p:cNvPr>
          <p:cNvSpPr>
            <a:spLocks noGrp="1"/>
          </p:cNvSpPr>
          <p:nvPr/>
        </p:nvSpPr>
        <p:spPr>
          <a:xfrm>
            <a:off x="6191250" y="43243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defRPr>
            </a:pPr>
            <a:r>
              <a:rPr sz="1725" b="1" i="0">
                <a:solidFill>
                  <a:srgbClr val="C94A4A"/>
                </a:solidFill>
                <a:latin typeface="Hiragino Sans"/>
                <a:ea typeface="Hiragino Sans"/>
                <a:cs typeface="Hiragino Sans"/>
              </a:rPr>
              <a:t>対応する資格情報を利用できない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CC8A58F5-D5B6-4B19-B0CE-49946522B828}"/>
              </a:ext>
            </a:extLst>
          </p:cNvPr>
          <p:cNvSpPr>
            <a:spLocks noGrp="1"/>
          </p:cNvSpPr>
          <p:nvPr/>
        </p:nvSpPr>
        <p:spPr>
          <a:xfrm>
            <a:off x="6191250" y="48387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見た目を誤認しても、認証器とRPがドメインを検証する。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649966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1ED82A00-5387-44DA-9687-98874D7C564E}"/>
              </a:ext>
            </a:extLst>
          </p:cNvPr>
          <p:cNvSpPr>
            <a:spLocks noGrp="1"/>
          </p:cNvSpPr>
          <p:nvPr/>
        </p:nvSpPr>
        <p:spPr>
          <a:xfrm>
            <a:off x="685800" y="381000"/>
            <a:ext cx="400050" cy="47625"/>
          </a:xfrm>
          <a:prstGeom prst="rect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7EC0831-55B3-4918-BB6E-549EB842E20C}"/>
              </a:ext>
            </a:extLst>
          </p:cNvPr>
          <p:cNvSpPr>
            <a:spLocks noGrp="1"/>
          </p:cNvSpPr>
          <p:nvPr/>
        </p:nvSpPr>
        <p:spPr>
          <a:xfrm>
            <a:off x="1162050" y="323850"/>
            <a:ext cx="4038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 i="0">
                <a:solidFill>
                  <a:srgbClr val="0F9D8C"/>
                </a:solidFill>
                <a:latin typeface="Hiragino Sans"/>
                <a:ea typeface="Hiragino Sans"/>
                <a:cs typeface="Hiragino Sans"/>
              </a:rPr>
              <a:t>21 / REVIEW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0B6C1FD-F1A4-4E55-98B2-D9873D4E7FE0}"/>
              </a:ext>
            </a:extLst>
          </p:cNvPr>
          <p:cNvSpPr>
            <a:spLocks noGrp="1"/>
          </p:cNvSpPr>
          <p:nvPr/>
        </p:nvSpPr>
        <p:spPr>
          <a:xfrm>
            <a:off x="647700" y="685800"/>
            <a:ext cx="10858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0" bIns="0" anchor="ctr">
            <a:noAutofit/>
          </a:bodyPr>
          <a:lstStyle/>
          <a:p>
            <a:pPr algn="l">
              <a:def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2700" b="1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入出力まで説明できれば、実装の全体像はつかめている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0535C3-7307-4AAA-B208-7245E40FDEB1}"/>
              </a:ext>
            </a:extLst>
          </p:cNvPr>
          <p:cNvSpPr>
            <a:spLocks noGrp="1"/>
          </p:cNvSpPr>
          <p:nvPr/>
        </p:nvSpPr>
        <p:spPr>
          <a:xfrm>
            <a:off x="685800" y="6381750"/>
            <a:ext cx="10820400" cy="9525"/>
          </a:xfrm>
          <a:prstGeom prst="rect">
            <a:avLst/>
          </a:prstGeom>
          <a:solidFill>
            <a:srgbClr val="DDE5E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32F966B-4F70-407C-979C-C657563698BD}"/>
              </a:ext>
            </a:extLst>
          </p:cNvPr>
          <p:cNvSpPr>
            <a:spLocks noGrp="1"/>
          </p:cNvSpPr>
          <p:nvPr/>
        </p:nvSpPr>
        <p:spPr>
          <a:xfrm>
            <a:off x="11049000" y="6486525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 i="0">
                <a:solidFill>
                  <a:srgbClr val="5C7077"/>
                </a:solidFill>
                <a:latin typeface="Hiragino Sans"/>
                <a:ea typeface="Hiragino Sans"/>
                <a:cs typeface="Hiragino Sans"/>
              </a:rPr>
              <a:t>22</a:t>
            </a: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30EC11B8-DA21-4F04-BE71-3F3709B1D458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85750" cy="285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AD8698D-88AA-4F20-B4CB-E1B4217A186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E90E0A3-3EF1-4D4D-BD84-4CB4907567BA}"/>
              </a:ext>
            </a:extLst>
          </p:cNvPr>
          <p:cNvSpPr>
            <a:spLocks noGrp="1"/>
          </p:cNvSpPr>
          <p:nvPr/>
        </p:nvSpPr>
        <p:spPr>
          <a:xfrm>
            <a:off x="1143000" y="17716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パスワードの問題を、パスキーがどう減らすか</a:t>
            </a:r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48FC79D9-4AD8-4083-A035-5BF4C7CC4E16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85750" cy="285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B8B1CD0-332A-47A1-AA89-BF50F7322646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CFBC96BF-A463-40B0-88FF-3ADC9A9044C8}"/>
              </a:ext>
            </a:extLst>
          </p:cNvPr>
          <p:cNvSpPr>
            <a:spLocks noGrp="1"/>
          </p:cNvSpPr>
          <p:nvPr/>
        </p:nvSpPr>
        <p:spPr>
          <a:xfrm>
            <a:off x="1143000" y="24574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登録シーケンスで4者の責務を説明できる</a:t>
            </a:r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A0A0A6E7-039F-421C-ACE7-8EEA24D9F44B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85750" cy="285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0D8100A-011C-4F0C-97FB-3CB30A7E0228}"/>
              </a:ext>
            </a:extLst>
          </p:cNvPr>
          <p:cNvSpPr>
            <a:spLocks noGrp="1"/>
          </p:cNvSpPr>
          <p:nvPr/>
        </p:nvSpPr>
        <p:spPr>
          <a:xfrm>
            <a:off x="685800" y="31813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0F62DAB-E258-4D3A-B0A9-343705FA7B7B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CreationOptionsJSON → RegistrationResponseJSON</a:t>
            </a:r>
          </a:p>
        </p:txBody>
      </p:sp>
      <p:sp>
        <p:nvSpPr>
          <p:cNvPr id="15" name="円/楕円 14">
            <a:extLst>
              <a:ext uri="{FF2B5EF4-FFF2-40B4-BE49-F238E27FC236}">
                <a16:creationId xmlns:a16="http://schemas.microsoft.com/office/drawing/2014/main" id="{06007B37-F3EB-4568-9410-AE237A953D83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285750" cy="285750"/>
          </a:xfrm>
          <a:prstGeom prst="ellipse">
            <a:avLst/>
          </a:prstGeom>
          <a:solidFill>
            <a:srgbClr val="0F9D8C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F7B0895-82C2-4B6B-ACFD-A2E5691E8C42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ABF2637-B6DD-4EA6-A3CB-D6E0858B74F8}"/>
              </a:ext>
            </a:extLst>
          </p:cNvPr>
          <p:cNvSpPr>
            <a:spLocks noGrp="1"/>
          </p:cNvSpPr>
          <p:nvPr/>
        </p:nvSpPr>
        <p:spPr>
          <a:xfrm>
            <a:off x="1143000" y="38290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登録検証後にDBへ保存する値を説明できる</a:t>
            </a:r>
          </a:p>
        </p:txBody>
      </p:sp>
      <p:sp>
        <p:nvSpPr>
          <p:cNvPr id="18" name="円/楕円 17">
            <a:extLst>
              <a:ext uri="{FF2B5EF4-FFF2-40B4-BE49-F238E27FC236}">
                <a16:creationId xmlns:a16="http://schemas.microsoft.com/office/drawing/2014/main" id="{DE329D12-BAAA-4B6A-96AE-5C7CB852A80D}"/>
              </a:ext>
            </a:extLst>
          </p:cNvPr>
          <p:cNvSpPr>
            <a:spLocks noGrp="1"/>
          </p:cNvSpPr>
          <p:nvPr/>
        </p:nvSpPr>
        <p:spPr>
          <a:xfrm>
            <a:off x="6305550" y="1790700"/>
            <a:ext cx="285750" cy="285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91E13FC-2BDE-4500-8370-AEECEA888D4F}"/>
              </a:ext>
            </a:extLst>
          </p:cNvPr>
          <p:cNvSpPr>
            <a:spLocks noGrp="1"/>
          </p:cNvSpPr>
          <p:nvPr/>
        </p:nvSpPr>
        <p:spPr>
          <a:xfrm>
            <a:off x="6305550" y="18097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6CBB310-C5FA-476E-88AE-AB3510E0E3FD}"/>
              </a:ext>
            </a:extLst>
          </p:cNvPr>
          <p:cNvSpPr>
            <a:spLocks noGrp="1"/>
          </p:cNvSpPr>
          <p:nvPr/>
        </p:nvSpPr>
        <p:spPr>
          <a:xfrm>
            <a:off x="6762750" y="17716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認証シーケンスで4者の責務を説明できる</a:t>
            </a:r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36A124D3-6900-4255-A6C2-6E589AB38C7F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285750" cy="285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8B2D4C80-8C01-4AA4-BBCE-2AFF990405AC}"/>
              </a:ext>
            </a:extLst>
          </p:cNvPr>
          <p:cNvSpPr>
            <a:spLocks noGrp="1"/>
          </p:cNvSpPr>
          <p:nvPr/>
        </p:nvSpPr>
        <p:spPr>
          <a:xfrm>
            <a:off x="6305550" y="24955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377FD152-5408-4E0C-AFFC-9860391FF380}"/>
              </a:ext>
            </a:extLst>
          </p:cNvPr>
          <p:cNvSpPr>
            <a:spLocks noGrp="1"/>
          </p:cNvSpPr>
          <p:nvPr/>
        </p:nvSpPr>
        <p:spPr>
          <a:xfrm>
            <a:off x="6762750" y="24574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RequestOptionsJSON → AuthenticationResponseJSON</a:t>
            </a:r>
          </a:p>
        </p:txBody>
      </p:sp>
      <p:sp>
        <p:nvSpPr>
          <p:cNvPr id="24" name="円/楕円 23">
            <a:extLst>
              <a:ext uri="{FF2B5EF4-FFF2-40B4-BE49-F238E27FC236}">
                <a16:creationId xmlns:a16="http://schemas.microsoft.com/office/drawing/2014/main" id="{60872E52-5039-4E3F-AFC5-D3404DDDC4E7}"/>
              </a:ext>
            </a:extLst>
          </p:cNvPr>
          <p:cNvSpPr>
            <a:spLocks noGrp="1"/>
          </p:cNvSpPr>
          <p:nvPr/>
        </p:nvSpPr>
        <p:spPr>
          <a:xfrm>
            <a:off x="6305550" y="3162300"/>
            <a:ext cx="285750" cy="285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6E022CA-2CDE-4004-BE89-DC2E51154F6E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39B05FE-0230-433E-96A9-656F05E42007}"/>
              </a:ext>
            </a:extLst>
          </p:cNvPr>
          <p:cNvSpPr>
            <a:spLocks noGrp="1"/>
          </p:cNvSpPr>
          <p:nvPr/>
        </p:nvSpPr>
        <p:spPr>
          <a:xfrm>
            <a:off x="6762750" y="31432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認証検証後のcounter更新とセッション発行</a:t>
            </a:r>
          </a:p>
        </p:txBody>
      </p:sp>
      <p:sp>
        <p:nvSpPr>
          <p:cNvPr id="27" name="円/楕円 26">
            <a:extLst>
              <a:ext uri="{FF2B5EF4-FFF2-40B4-BE49-F238E27FC236}">
                <a16:creationId xmlns:a16="http://schemas.microsoft.com/office/drawing/2014/main" id="{12D971D9-885F-4488-AB42-1EABF11213DF}"/>
              </a:ext>
            </a:extLst>
          </p:cNvPr>
          <p:cNvSpPr>
            <a:spLocks noGrp="1"/>
          </p:cNvSpPr>
          <p:nvPr/>
        </p:nvSpPr>
        <p:spPr>
          <a:xfrm>
            <a:off x="6305550" y="3848100"/>
            <a:ext cx="285750" cy="285750"/>
          </a:xfrm>
          <a:prstGeom prst="ellipse">
            <a:avLst/>
          </a:prstGeom>
          <a:solidFill>
            <a:srgbClr val="3569D4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2EE295E5-091C-4103-8578-75D649FC6517}"/>
              </a:ext>
            </a:extLst>
          </p:cNvPr>
          <p:cNvSpPr>
            <a:spLocks noGrp="1"/>
          </p:cNvSpPr>
          <p:nvPr/>
        </p:nvSpPr>
        <p:spPr>
          <a:xfrm>
            <a:off x="6305550" y="3867150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✓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230DA03-856F-4C71-A5C1-4E1236AF188C}"/>
              </a:ext>
            </a:extLst>
          </p:cNvPr>
          <p:cNvSpPr>
            <a:spLocks noGrp="1"/>
          </p:cNvSpPr>
          <p:nvPr/>
        </p:nvSpPr>
        <p:spPr>
          <a:xfrm>
            <a:off x="6762750" y="3829050"/>
            <a:ext cx="466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102A33"/>
                </a:solidFill>
                <a:latin typeface="Hiragino Sans"/>
                <a:ea typeface="Hiragino Sans"/>
                <a:cs typeface="Hiragino Sans"/>
              </a:rPr>
              <a:t>@simplewebauthn/browserが担う範囲を説明できる</a:t>
            </a: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481C0EFC-F621-4261-85E5-9E395F04DC9C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0820400" cy="1143000"/>
          </a:xfrm>
          <a:prstGeom prst="roundRect">
            <a:avLst>
              <a:gd name="adj" fmla="val 6667"/>
            </a:avLst>
          </a:prstGeom>
          <a:solidFill>
            <a:srgbClr val="2C4047"/>
          </a:solidFill>
          <a:ln w="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B0E86653-CD78-4128-BE18-10EDBF32CC27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 i="0">
                <a:solidFill>
                  <a:srgbClr val="9FE1D6"/>
                </a:solidFill>
                <a:latin typeface="Hiragino Sans"/>
                <a:ea typeface="Hiragino Sans"/>
                <a:cs typeface="Hiragino Sans"/>
              </a:rPr>
              <a:t>一文でまとめる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7AC4334-B4D8-4A09-B3D4-86CE2D7E562F}"/>
              </a:ext>
            </a:extLst>
          </p:cNvPr>
          <p:cNvSpPr>
            <a:spLocks noGrp="1"/>
          </p:cNvSpPr>
          <p:nvPr/>
        </p:nvSpPr>
        <p:spPr>
          <a:xfrm>
            <a:off x="2647950" y="51054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 i="0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オプションを渡し、Credentialを受け取り、期待値と保存済み公開鍵で検証する。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F7977A1-18BD-4F56-B007-B1D33F953968}"/>
              </a:ext>
            </a:extLst>
          </p:cNvPr>
          <p:cNvSpPr>
            <a:spLocks noGrp="1"/>
          </p:cNvSpPr>
          <p:nvPr/>
        </p:nvSpPr>
        <p:spPr>
          <a:xfrm>
            <a:off x="2647950" y="55435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0" i="0">
                <a:solidFill>
                  <a:srgbClr val="D5E1E0"/>
                </a:solidFill>
                <a:latin typeface="Hiragino Sans"/>
                <a:ea typeface="Hiragino Sans"/>
                <a:cs typeface="Hiragino Sans"/>
              </a:rPr>
              <a:t>challenge・origin・RP ID・署名を検証し、成功後に状態を保存・更新する。</a:t>
            </a:r>
          </a:p>
        </p:txBody>
      </p:sp>
    </p:spTree>
    <p:extLst>
      <p:ext uri="{BB962C8B-B14F-4D97-AF65-F5344CB8AC3E}">
        <p14:creationId xmlns:p14="http://schemas.microsoft.com/office/powerpoint/2010/main" val="20569906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3069</Words>
  <Application>Microsoft Macintosh PowerPoint</Application>
  <DocSecurity>0</DocSecurity>
  <PresentationFormat>ワイド画面</PresentationFormat>
  <Paragraphs>585</Paragraphs>
  <Slides>22</Slides>
  <Notes>22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Hiragino Sans</vt:lpstr>
      <vt:lpstr>Calibri</vt:lpstr>
      <vt:lpstr>Menlo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Rikuto Kida - 木田 陸渡</cp:lastModifiedBy>
  <cp:revision>1</cp:revision>
  <dcterms:created xsi:type="dcterms:W3CDTF">2026-08-06T14:39:40Z</dcterms:created>
  <dcterms:modified xsi:type="dcterms:W3CDTF">2026-08-06T23:48:20Z</dcterms:modified>
</cp:coreProperties>
</file>