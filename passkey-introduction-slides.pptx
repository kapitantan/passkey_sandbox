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68"/>
    <p:restoredTop sz="94661"/>
  </p:normalViewPr>
  <p:slideViewPr>
    <p:cSldViewPr snapToGrid="0">
      <p:cViewPr varScale="1">
        <p:scale>
          <a:sx n="122" d="100"/>
          <a:sy n="122" d="100"/>
        </p:scale>
        <p:origin x="23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https://fidoalliance.org/specifications/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https://fidoalliance.org/specifications/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https://fidoalliance.org/specifications/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https://fidoalliance.org/specifications/</a:t>
            </a:r>
          </a:p>
          <a:p>
            <a:r>
              <a:t>- https://www.w3.org/TR/webauthn-3/</a:t>
            </a:r>
          </a:p>
          <a:p>
            <a:r>
              <a:t>- https://developer.mozilla.org/ja/docs/Glossary/Relying_party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F6D6F0D-EE0F-4740-80FA-CCD8B53784C4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609600" cy="6667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06A2DE-C057-4932-8FA2-D0B196C6B8C3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PASSKEY INTRODUCTION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160BE8-3097-4725-B11F-3E816A6F0FD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85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パスキー入門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B7634F-555A-4108-9B93-217F6A9387EC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685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FIDO2・WebAuthnの全体像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DBB80A8-3571-4342-A7F6-029794F44BC5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誰が鍵を持ち、何を検証しているのか</a:t>
            </a:r>
          </a:p>
        </p:txBody>
      </p:sp>
      <p:sp>
        <p:nvSpPr>
          <p:cNvPr id="6" name="右矢印 5">
            <a:extLst>
              <a:ext uri="{FF2B5EF4-FFF2-40B4-BE49-F238E27FC236}">
                <a16:creationId xmlns:a16="http://schemas.microsoft.com/office/drawing/2014/main" id="{61A2F07E-C83E-47B3-9311-B28D553405B0}"/>
              </a:ext>
            </a:extLst>
          </p:cNvPr>
          <p:cNvSpPr>
            <a:spLocks noGrp="1"/>
          </p:cNvSpPr>
          <p:nvPr/>
        </p:nvSpPr>
        <p:spPr>
          <a:xfrm>
            <a:off x="8629650" y="2209800"/>
            <a:ext cx="78105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9861ABC2-ECCA-449A-9C4D-9168003F7176}"/>
              </a:ext>
            </a:extLst>
          </p:cNvPr>
          <p:cNvSpPr>
            <a:spLocks noGrp="1"/>
          </p:cNvSpPr>
          <p:nvPr/>
        </p:nvSpPr>
        <p:spPr>
          <a:xfrm>
            <a:off x="7524750" y="1752600"/>
            <a:ext cx="1104900" cy="1104900"/>
          </a:xfrm>
          <a:prstGeom prst="ellipse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FC7EF9-02EF-4178-9687-B9F4B37D1BCE}"/>
              </a:ext>
            </a:extLst>
          </p:cNvPr>
          <p:cNvSpPr>
            <a:spLocks noGrp="1"/>
          </p:cNvSpPr>
          <p:nvPr/>
        </p:nvSpPr>
        <p:spPr>
          <a:xfrm>
            <a:off x="7524750" y="1771650"/>
            <a:ext cx="1104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</a:t>
            </a:r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748BA449-A0BA-434F-A269-6CA94DA1E8D1}"/>
              </a:ext>
            </a:extLst>
          </p:cNvPr>
          <p:cNvSpPr>
            <a:spLocks noGrp="1"/>
          </p:cNvSpPr>
          <p:nvPr/>
        </p:nvSpPr>
        <p:spPr>
          <a:xfrm>
            <a:off x="9410700" y="1752600"/>
            <a:ext cx="1104900" cy="110490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CB3B056-D854-49B5-8C7D-801F7C1BC4ED}"/>
              </a:ext>
            </a:extLst>
          </p:cNvPr>
          <p:cNvSpPr>
            <a:spLocks noGrp="1"/>
          </p:cNvSpPr>
          <p:nvPr/>
        </p:nvSpPr>
        <p:spPr>
          <a:xfrm>
            <a:off x="9410700" y="1771650"/>
            <a:ext cx="1104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署名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FD6308C4-2D72-498E-A067-DCBEF6366842}"/>
              </a:ext>
            </a:extLst>
          </p:cNvPr>
          <p:cNvSpPr>
            <a:spLocks noGrp="1"/>
          </p:cNvSpPr>
          <p:nvPr/>
        </p:nvSpPr>
        <p:spPr>
          <a:xfrm>
            <a:off x="10515600" y="3409950"/>
            <a:ext cx="1104900" cy="110490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848805B-CA67-41B4-8015-9E956F099023}"/>
              </a:ext>
            </a:extLst>
          </p:cNvPr>
          <p:cNvSpPr>
            <a:spLocks noGrp="1"/>
          </p:cNvSpPr>
          <p:nvPr/>
        </p:nvSpPr>
        <p:spPr>
          <a:xfrm>
            <a:off x="10515600" y="3429000"/>
            <a:ext cx="1104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公開鍵</a:t>
            </a:r>
          </a:p>
        </p:txBody>
      </p:sp>
      <p:sp>
        <p:nvSpPr>
          <p:cNvPr id="13" name="下矢印 12">
            <a:extLst>
              <a:ext uri="{FF2B5EF4-FFF2-40B4-BE49-F238E27FC236}">
                <a16:creationId xmlns:a16="http://schemas.microsoft.com/office/drawing/2014/main" id="{3E52BA71-F6B4-44AC-981B-EA91BF5E0B50}"/>
              </a:ext>
            </a:extLst>
          </p:cNvPr>
          <p:cNvSpPr>
            <a:spLocks noGrp="1"/>
          </p:cNvSpPr>
          <p:nvPr/>
        </p:nvSpPr>
        <p:spPr>
          <a:xfrm>
            <a:off x="9906000" y="2857500"/>
            <a:ext cx="838200" cy="228600"/>
          </a:xfrm>
          <a:prstGeom prst="down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ACC5269-852A-431D-AE7E-BF910517104A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9B69725-9D46-42E3-AA69-AA446ADFD94F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 dirty="0" err="1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実装前に押さえる、公開鍵・秘密鍵・challenge・RP</a:t>
            </a:r>
            <a:r>
              <a:rPr sz="1350" b="0" i="0" dirty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 ID</a:t>
            </a:r>
          </a:p>
        </p:txBody>
      </p:sp>
    </p:spTree>
    <p:extLst>
      <p:ext uri="{BB962C8B-B14F-4D97-AF65-F5344CB8AC3E}">
        <p14:creationId xmlns:p14="http://schemas.microsoft.com/office/powerpoint/2010/main" val="340631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A21AA76-FF7C-4B17-861B-0E40313D122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7995851-2614-4B63-8032-41812345862A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01 / CORE IDEA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56E0CE-EE5E-4400-BA3D-758118B76D2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パスキーは、秘密鍵で署名し、公開鍵で検証する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5B42496-2A9C-42F4-928A-B66E8D1B9E3A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47AA241-C903-43E8-8413-A9908DEB6E71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7AED2-86DC-4549-BDC2-905BE78C206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秘密鍵は認証器に残り、RPは登録済み公開鍵だけを使って正当性を確認する。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E03E34BB-34EA-492B-8C69-EF0CDD8BB47D}"/>
              </a:ext>
            </a:extLst>
          </p:cNvPr>
          <p:cNvSpPr>
            <a:spLocks noGrp="1"/>
          </p:cNvSpPr>
          <p:nvPr/>
        </p:nvSpPr>
        <p:spPr>
          <a:xfrm>
            <a:off x="3067050" y="2781300"/>
            <a:ext cx="952500" cy="2667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F0F66A30-A2AB-41E9-95B1-10BCD806833F}"/>
              </a:ext>
            </a:extLst>
          </p:cNvPr>
          <p:cNvSpPr>
            <a:spLocks noGrp="1"/>
          </p:cNvSpPr>
          <p:nvPr/>
        </p:nvSpPr>
        <p:spPr>
          <a:xfrm>
            <a:off x="7543800" y="2781300"/>
            <a:ext cx="952500" cy="2667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F44E3F92-F803-4B5E-970A-3DA7B6046DC4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1962150" cy="1962150"/>
          </a:xfrm>
          <a:prstGeom prst="ellipse">
            <a:avLst/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A3ACD2A-8C74-4BA5-AABC-F088236229A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196215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E233CFDE-8B48-4F63-A692-E8A3D225E922}"/>
              </a:ext>
            </a:extLst>
          </p:cNvPr>
          <p:cNvSpPr>
            <a:spLocks noGrp="1"/>
          </p:cNvSpPr>
          <p:nvPr/>
        </p:nvSpPr>
        <p:spPr>
          <a:xfrm>
            <a:off x="4229100" y="2095500"/>
            <a:ext cx="2190750" cy="2190750"/>
          </a:xfrm>
          <a:prstGeom prst="ellipse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0C19861-8B20-4AEB-B2B8-9D35FFCA7640}"/>
              </a:ext>
            </a:extLst>
          </p:cNvPr>
          <p:cNvSpPr>
            <a:spLocks noGrp="1"/>
          </p:cNvSpPr>
          <p:nvPr/>
        </p:nvSpPr>
        <p:spPr>
          <a:xfrm>
            <a:off x="4229100" y="2114550"/>
            <a:ext cx="219075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秘密鍵で署名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101B0E43-D866-4BD3-BD0B-83EEDED62A30}"/>
              </a:ext>
            </a:extLst>
          </p:cNvPr>
          <p:cNvSpPr>
            <a:spLocks noGrp="1"/>
          </p:cNvSpPr>
          <p:nvPr/>
        </p:nvSpPr>
        <p:spPr>
          <a:xfrm>
            <a:off x="8705850" y="2095500"/>
            <a:ext cx="2190750" cy="2190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5D2BF49-76A8-43BF-868D-C8B5EA3D9585}"/>
              </a:ext>
            </a:extLst>
          </p:cNvPr>
          <p:cNvSpPr>
            <a:spLocks noGrp="1"/>
          </p:cNvSpPr>
          <p:nvPr/>
        </p:nvSpPr>
        <p:spPr>
          <a:xfrm>
            <a:off x="8705850" y="2114550"/>
            <a:ext cx="219075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公開鍵で検証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AB86CA8-2B30-4F4A-9827-14DFC635824F}"/>
              </a:ext>
            </a:extLst>
          </p:cNvPr>
          <p:cNvSpPr>
            <a:spLocks noGrp="1"/>
          </p:cNvSpPr>
          <p:nvPr/>
        </p:nvSpPr>
        <p:spPr>
          <a:xfrm>
            <a:off x="857250" y="441960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RPサーバーが毎回発行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54950DA-1B6F-42E4-B724-795072F42051}"/>
              </a:ext>
            </a:extLst>
          </p:cNvPr>
          <p:cNvSpPr>
            <a:spLocks noGrp="1"/>
          </p:cNvSpPr>
          <p:nvPr/>
        </p:nvSpPr>
        <p:spPr>
          <a:xfrm>
            <a:off x="4229100" y="4419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認証器の外へ出ない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1238C38-E882-41C5-B1A7-1D1F459966E8}"/>
              </a:ext>
            </a:extLst>
          </p:cNvPr>
          <p:cNvSpPr>
            <a:spLocks noGrp="1"/>
          </p:cNvSpPr>
          <p:nvPr/>
        </p:nvSpPr>
        <p:spPr>
          <a:xfrm>
            <a:off x="8705850" y="4419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登録時にRPへ保存</a:t>
            </a: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18A55B0A-49B2-45CC-BDA9-E23530D307A4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820400" cy="800100"/>
          </a:xfrm>
          <a:prstGeom prst="roundRect">
            <a:avLst>
              <a:gd name="adj" fmla="val 9524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366C3CD-4429-454B-908A-1B2359148B82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覚える4点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DBB8D5C-7377-473D-A256-442C8164C7D7}"/>
              </a:ext>
            </a:extLst>
          </p:cNvPr>
          <p:cNvSpPr>
            <a:spLocks noGrp="1"/>
          </p:cNvSpPr>
          <p:nvPr/>
        </p:nvSpPr>
        <p:spPr>
          <a:xfrm>
            <a:off x="2152650" y="5314950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秘密鍵は送らない  /  公開鍵を保存  /  challengeは一度きり  /  生体情報はRPへ送らない</a:t>
            </a:r>
          </a:p>
        </p:txBody>
      </p:sp>
    </p:spTree>
    <p:extLst>
      <p:ext uri="{BB962C8B-B14F-4D97-AF65-F5344CB8AC3E}">
        <p14:creationId xmlns:p14="http://schemas.microsoft.com/office/powerpoint/2010/main" val="3084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AFF191E-04BB-4925-A739-E6269E9ED2F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3A13F0-53E2-431A-8EE3-E940EFFED742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02 / USER VERIFICATION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5191400-7885-4B01-8CD2-5BE465EDE91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生体認証やPINは、秘密鍵を使わせる端末内の確認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26F023D-68B7-4810-A09E-520847DC1FD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7B1B93A-BF94-4742-A7C9-B68952CD0323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6B2A14B-DCAE-42B0-B0EA-6476DA63E96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76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顔・指紋・PINそのものを、Webサービスへ送る仕組みではない。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2196BEF8-E588-406F-BE08-4AF3045F9F00}"/>
              </a:ext>
            </a:extLst>
          </p:cNvPr>
          <p:cNvSpPr>
            <a:spLocks noGrp="1"/>
          </p:cNvSpPr>
          <p:nvPr/>
        </p:nvSpPr>
        <p:spPr>
          <a:xfrm>
            <a:off x="2914650" y="2990850"/>
            <a:ext cx="914400" cy="2476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4EF9D7A8-FFAD-42F6-8674-C2C296129434}"/>
              </a:ext>
            </a:extLst>
          </p:cNvPr>
          <p:cNvSpPr>
            <a:spLocks noGrp="1"/>
          </p:cNvSpPr>
          <p:nvPr/>
        </p:nvSpPr>
        <p:spPr>
          <a:xfrm>
            <a:off x="7410450" y="2990850"/>
            <a:ext cx="914400" cy="2476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EB3C551A-D7D6-4962-BEFB-8C26104A99B1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619250" cy="16192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11BA5DA-0062-4F73-B43E-3BC8029ECBF8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619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利用者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F6002BEB-A70E-4380-851F-25F6C096ABFE}"/>
              </a:ext>
            </a:extLst>
          </p:cNvPr>
          <p:cNvSpPr>
            <a:spLocks noGrp="1"/>
          </p:cNvSpPr>
          <p:nvPr/>
        </p:nvSpPr>
        <p:spPr>
          <a:xfrm>
            <a:off x="4038600" y="2076450"/>
            <a:ext cx="3143250" cy="2000250"/>
          </a:xfrm>
          <a:prstGeom prst="roundRect">
            <a:avLst>
              <a:gd name="adj" fmla="val 3810"/>
            </a:avLst>
          </a:prstGeom>
          <a:solidFill>
            <a:srgbClr val="F9EF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161B172-6C84-4FCB-BD2E-CDF1F2173085}"/>
              </a:ext>
            </a:extLst>
          </p:cNvPr>
          <p:cNvSpPr>
            <a:spLocks noGrp="1"/>
          </p:cNvSpPr>
          <p:nvPr/>
        </p:nvSpPr>
        <p:spPr>
          <a:xfrm>
            <a:off x="4362450" y="234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B46890E-5CEF-4CDF-802B-AB166109D9E6}"/>
              </a:ext>
            </a:extLst>
          </p:cNvPr>
          <p:cNvSpPr>
            <a:spLocks noGrp="1"/>
          </p:cNvSpPr>
          <p:nvPr/>
        </p:nvSpPr>
        <p:spPr>
          <a:xfrm>
            <a:off x="4362450" y="2819400"/>
            <a:ext cx="238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生体認証・PINを確認</a:t>
            </a:r>
          </a:p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秘密鍵の使用を許可</a:t>
            </a:r>
          </a:p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署名を作る</a:t>
            </a: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C9CF75B9-3CE9-49E5-B3D8-2AD3ED15180B}"/>
              </a:ext>
            </a:extLst>
          </p:cNvPr>
          <p:cNvSpPr>
            <a:spLocks noGrp="1"/>
          </p:cNvSpPr>
          <p:nvPr/>
        </p:nvSpPr>
        <p:spPr>
          <a:xfrm>
            <a:off x="8743950" y="2266950"/>
            <a:ext cx="1619250" cy="16192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CBB49AD-F8C4-46DF-9E22-7B2DDE3207E0}"/>
              </a:ext>
            </a:extLst>
          </p:cNvPr>
          <p:cNvSpPr>
            <a:spLocks noGrp="1"/>
          </p:cNvSpPr>
          <p:nvPr/>
        </p:nvSpPr>
        <p:spPr>
          <a:xfrm>
            <a:off x="8743950" y="2286000"/>
            <a:ext cx="1619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RP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249DB7C-EF03-404A-9368-5AA49ACB248F}"/>
              </a:ext>
            </a:extLst>
          </p:cNvPr>
          <p:cNvSpPr>
            <a:spLocks noGrp="1"/>
          </p:cNvSpPr>
          <p:nvPr/>
        </p:nvSpPr>
        <p:spPr>
          <a:xfrm>
            <a:off x="6838950" y="43624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生体情報はここを越えない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E07FFA2-3F0D-44B2-85D9-CF7C4E471308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47625" cy="2476500"/>
          </a:xfrm>
          <a:prstGeom prst="rect">
            <a:avLst/>
          </a:prstGeom>
          <a:solidFill>
            <a:srgbClr val="C94A4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5B0D3B5-9EE1-46AD-8650-CD5DE1C314F7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利用者が渡すもの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BDB9799-30F1-4D06-9883-976BA744A7B9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本人確認の操作・同意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84E09CA-8312-4644-8D56-259070112935}"/>
              </a:ext>
            </a:extLst>
          </p:cNvPr>
          <p:cNvSpPr>
            <a:spLocks noGrp="1"/>
          </p:cNvSpPr>
          <p:nvPr/>
        </p:nvSpPr>
        <p:spPr>
          <a:xfrm>
            <a:off x="6705600" y="50482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RPが受け取るもの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9EB9F09-1B0D-428F-A2B9-7C45BB87C33B}"/>
              </a:ext>
            </a:extLst>
          </p:cNvPr>
          <p:cNvSpPr>
            <a:spLocks noGrp="1"/>
          </p:cNvSpPr>
          <p:nvPr/>
        </p:nvSpPr>
        <p:spPr>
          <a:xfrm>
            <a:off x="6705600" y="54102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署名・Credential ID・検証用データ</a:t>
            </a:r>
          </a:p>
        </p:txBody>
      </p:sp>
    </p:spTree>
    <p:extLst>
      <p:ext uri="{BB962C8B-B14F-4D97-AF65-F5344CB8AC3E}">
        <p14:creationId xmlns:p14="http://schemas.microsoft.com/office/powerpoint/2010/main" val="741479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D9517A3-7884-4BA6-8223-3E9C29FFB69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B9276D-9422-4D17-9606-3F73BBE758A8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03 / WHAT CHANGES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39C1F69-19FE-497C-B910-3527ABDCE3E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秘密情報の照合から、公開鍵による署名検証へ変わる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5F2838A-6F9A-440F-9BA0-142A436EF2F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7C05449-B3D6-49DB-BBEB-CD2E8540104E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5248A61-4246-4DF9-9ABC-CE5C2B7208A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ユーザー体験だけでなく、サーバーが保持する情報と攻撃面が変わる。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FF644F3-5FED-4A16-B9A4-2FFDAEB9C5FF}"/>
              </a:ext>
            </a:extLst>
          </p:cNvPr>
          <p:cNvSpPr>
            <a:spLocks noGrp="1"/>
          </p:cNvSpPr>
          <p:nvPr/>
        </p:nvSpPr>
        <p:spPr>
          <a:xfrm>
            <a:off x="4019550" y="1866900"/>
            <a:ext cx="9525" cy="40005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A8B7611-AAC5-4440-89B6-8113C2A17AF3}"/>
              </a:ext>
            </a:extLst>
          </p:cNvPr>
          <p:cNvSpPr>
            <a:spLocks noGrp="1"/>
          </p:cNvSpPr>
          <p:nvPr/>
        </p:nvSpPr>
        <p:spPr>
          <a:xfrm>
            <a:off x="7620000" y="1866900"/>
            <a:ext cx="9525" cy="40005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67C3D7B-7AAD-4AC6-8BF8-7C743FD1283C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観点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9531BB6-188A-4060-9DDC-95CC57E55F49}"/>
              </a:ext>
            </a:extLst>
          </p:cNvPr>
          <p:cNvSpPr>
            <a:spLocks noGrp="1"/>
          </p:cNvSpPr>
          <p:nvPr/>
        </p:nvSpPr>
        <p:spPr>
          <a:xfrm>
            <a:off x="4419600" y="1943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パスワード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CB5BC2C-D470-4B65-B218-2980E9613140}"/>
              </a:ext>
            </a:extLst>
          </p:cNvPr>
          <p:cNvSpPr>
            <a:spLocks noGrp="1"/>
          </p:cNvSpPr>
          <p:nvPr/>
        </p:nvSpPr>
        <p:spPr>
          <a:xfrm>
            <a:off x="8020050" y="1943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パスキー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CF9BA38-81B9-46C7-A214-8A4B9CE0A05E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3999612-E8E8-497E-A74F-6AD8E61A79D3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ユーザーが扱うもの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AB7694F-237A-4313-BCC0-1EE69B7B3D5C}"/>
              </a:ext>
            </a:extLst>
          </p:cNvPr>
          <p:cNvSpPr>
            <a:spLocks noGrp="1"/>
          </p:cNvSpPr>
          <p:nvPr/>
        </p:nvSpPr>
        <p:spPr>
          <a:xfrm>
            <a:off x="4419600" y="26289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文字列の秘密情報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21B53BB-E776-48F9-8E9B-65EF9D9A9240}"/>
              </a:ext>
            </a:extLst>
          </p:cNvPr>
          <p:cNvSpPr>
            <a:spLocks noGrp="1"/>
          </p:cNvSpPr>
          <p:nvPr/>
        </p:nvSpPr>
        <p:spPr>
          <a:xfrm>
            <a:off x="8020050" y="26289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生体認証・PINなど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F4F88F8-CD9B-442D-8BE9-C824C7A1E7A3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8F4205B-259E-4181-81D1-F9582F4EDC5F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サーバーが保存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58747AE-3917-4690-BD3C-5B04969597FC}"/>
              </a:ext>
            </a:extLst>
          </p:cNvPr>
          <p:cNvSpPr>
            <a:spLocks noGrp="1"/>
          </p:cNvSpPr>
          <p:nvPr/>
        </p:nvSpPr>
        <p:spPr>
          <a:xfrm>
            <a:off x="4419600" y="34099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パスワードのハッシュ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4D34BF3-8944-4D18-AF88-BD9AE9EBD635}"/>
              </a:ext>
            </a:extLst>
          </p:cNvPr>
          <p:cNvSpPr>
            <a:spLocks noGrp="1"/>
          </p:cNvSpPr>
          <p:nvPr/>
        </p:nvSpPr>
        <p:spPr>
          <a:xfrm>
            <a:off x="8020050" y="34099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公開鍵・Credential ID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A6C41A9-459D-4235-84C4-4D2D56AD104D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27A0727-1918-49F7-BDE9-B45B244DEA67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認証時の確認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AB5A779-22B4-4E20-AC4F-75A283D5886E}"/>
              </a:ext>
            </a:extLst>
          </p:cNvPr>
          <p:cNvSpPr>
            <a:spLocks noGrp="1"/>
          </p:cNvSpPr>
          <p:nvPr/>
        </p:nvSpPr>
        <p:spPr>
          <a:xfrm>
            <a:off x="4419600" y="41910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入力値のハッシュを照合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C7BC649-2F34-4D48-9B6C-6BC0CB4FF772}"/>
              </a:ext>
            </a:extLst>
          </p:cNvPr>
          <p:cNvSpPr>
            <a:spLocks noGrp="1"/>
          </p:cNvSpPr>
          <p:nvPr/>
        </p:nvSpPr>
        <p:spPr>
          <a:xfrm>
            <a:off x="8020050" y="41910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秘密鍵の署名を検証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4F4656B-B67A-4260-9DCD-F4A63982953A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E4BE022-84DF-4003-9F41-132CA3EDF6B1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フィッシング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2BCD336-16CF-4224-9E21-EE53066569DA}"/>
              </a:ext>
            </a:extLst>
          </p:cNvPr>
          <p:cNvSpPr>
            <a:spLocks noGrp="1"/>
          </p:cNvSpPr>
          <p:nvPr/>
        </p:nvSpPr>
        <p:spPr>
          <a:xfrm>
            <a:off x="4419600" y="49720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偽サイトへ入力できる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9308AEB-302D-4400-BC4F-C5602D7E4306}"/>
              </a:ext>
            </a:extLst>
          </p:cNvPr>
          <p:cNvSpPr>
            <a:spLocks noGrp="1"/>
          </p:cNvSpPr>
          <p:nvPr/>
        </p:nvSpPr>
        <p:spPr>
          <a:xfrm>
            <a:off x="8020050" y="49720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 IDが違えば利用できない</a:t>
            </a:r>
          </a:p>
        </p:txBody>
      </p:sp>
    </p:spTree>
    <p:extLst>
      <p:ext uri="{BB962C8B-B14F-4D97-AF65-F5344CB8AC3E}">
        <p14:creationId xmlns:p14="http://schemas.microsoft.com/office/powerpoint/2010/main" val="1960357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C7866C2-D1F2-4950-AFDC-CADC927B951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847758-6868-431F-8B29-DDE81CE612D8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04 / TERMINOLOGY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781651-7CC5-46F8-8918-22D31BBB0E8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FIDO2は、WebAuthnとCTAPの担当範囲を組み合わせる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1529D5A-428C-4043-A7AE-CDE734D44A5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A66F30C-0D0B-4BF5-B412-8DCA9BCB251F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FF30D35-D576-4DF6-B614-3EBE7E0F80E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Webアプリ側の仕様と、外部認証器との通信仕様を分けて考える。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10B5C0-1744-4405-805C-6320CB809DDA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A8D71A7-DC04-4049-A449-63023D7BADF0}"/>
              </a:ext>
            </a:extLst>
          </p:cNvPr>
          <p:cNvSpPr>
            <a:spLocks noGrp="1"/>
          </p:cNvSpPr>
          <p:nvPr/>
        </p:nvSpPr>
        <p:spPr>
          <a:xfrm>
            <a:off x="3810000" y="2133600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3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=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CC163402-9DB4-4AFA-8FBD-89ACCAAF38CF}"/>
              </a:ext>
            </a:extLst>
          </p:cNvPr>
          <p:cNvSpPr>
            <a:spLocks noGrp="1"/>
          </p:cNvSpPr>
          <p:nvPr/>
        </p:nvSpPr>
        <p:spPr>
          <a:xfrm>
            <a:off x="5505450" y="194310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7AB4375-97B4-4655-B256-D36543BB53D9}"/>
              </a:ext>
            </a:extLst>
          </p:cNvPr>
          <p:cNvSpPr>
            <a:spLocks noGrp="1"/>
          </p:cNvSpPr>
          <p:nvPr/>
        </p:nvSpPr>
        <p:spPr>
          <a:xfrm>
            <a:off x="5829300" y="220980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WebAuthn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EA70895-09A1-4DA1-A38E-DF7144DC30AB}"/>
              </a:ext>
            </a:extLst>
          </p:cNvPr>
          <p:cNvSpPr>
            <a:spLocks noGrp="1"/>
          </p:cNvSpPr>
          <p:nvPr/>
        </p:nvSpPr>
        <p:spPr>
          <a:xfrm>
            <a:off x="5829300" y="2724150"/>
            <a:ext cx="1981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W3C</a:t>
            </a:r>
          </a:p>
          <a:p>
            <a:pPr algn="ctr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 API・データ形式</a:t>
            </a:r>
          </a:p>
          <a:p>
            <a:pPr algn="ctr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RP側の検証手順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B9A87EF-5A7A-4D29-8F20-4C6AB7E708EC}"/>
              </a:ext>
            </a:extLst>
          </p:cNvPr>
          <p:cNvSpPr>
            <a:spLocks noGrp="1"/>
          </p:cNvSpPr>
          <p:nvPr/>
        </p:nvSpPr>
        <p:spPr>
          <a:xfrm>
            <a:off x="8210550" y="23241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8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6CB9AA26-97A0-43EE-AD5A-5541B360BBE7}"/>
              </a:ext>
            </a:extLst>
          </p:cNvPr>
          <p:cNvSpPr>
            <a:spLocks noGrp="1"/>
          </p:cNvSpPr>
          <p:nvPr/>
        </p:nvSpPr>
        <p:spPr>
          <a:xfrm>
            <a:off x="8782050" y="194310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E6ED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85ECA3C-696E-4C4F-B845-688394584D29}"/>
              </a:ext>
            </a:extLst>
          </p:cNvPr>
          <p:cNvSpPr>
            <a:spLocks noGrp="1"/>
          </p:cNvSpPr>
          <p:nvPr/>
        </p:nvSpPr>
        <p:spPr>
          <a:xfrm>
            <a:off x="9105900" y="220980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CTAP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64A52A8-FF05-49F0-8F5D-BF771B71558A}"/>
              </a:ext>
            </a:extLst>
          </p:cNvPr>
          <p:cNvSpPr>
            <a:spLocks noGrp="1"/>
          </p:cNvSpPr>
          <p:nvPr/>
        </p:nvSpPr>
        <p:spPr>
          <a:xfrm>
            <a:off x="8953500" y="272415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 Alliance</a:t>
            </a:r>
          </a:p>
          <a:p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クライアントと外部認証器</a:t>
            </a:r>
          </a:p>
          <a:p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USB / NFC / BLE / hybrid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3D67797-3056-4526-B483-09F31EDD7FC2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72515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DC6CBEC-17B4-4F21-AA13-087878E12213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WebAuthnの入口</a:t>
            </a: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D9E959FA-9D87-43F8-ABC9-D8C87543E914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5143500" cy="876300"/>
          </a:xfrm>
          <a:prstGeom prst="roundRect">
            <a:avLst>
              <a:gd name="adj" fmla="val 8696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A2FC263-895B-4BE0-9E46-BDB5FC470356}"/>
              </a:ext>
            </a:extLst>
          </p:cNvPr>
          <p:cNvSpPr>
            <a:spLocks noGrp="1"/>
          </p:cNvSpPr>
          <p:nvPr/>
        </p:nvSpPr>
        <p:spPr>
          <a:xfrm>
            <a:off x="876300" y="487680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登録  navigator.credentials.create()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認証  navigator.credentials.get()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EC32F5A-1B8A-41DE-9979-12790AEB2199}"/>
              </a:ext>
            </a:extLst>
          </p:cNvPr>
          <p:cNvSpPr>
            <a:spLocks noGrp="1"/>
          </p:cNvSpPr>
          <p:nvPr/>
        </p:nvSpPr>
        <p:spPr>
          <a:xfrm>
            <a:off x="6724650" y="4324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FIDO 1.0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4263CA2-4669-4744-B6CA-62B1AB4E1F26}"/>
              </a:ext>
            </a:extLst>
          </p:cNvPr>
          <p:cNvSpPr>
            <a:spLocks noGrp="1"/>
          </p:cNvSpPr>
          <p:nvPr/>
        </p:nvSpPr>
        <p:spPr>
          <a:xfrm>
            <a:off x="6724650" y="4743450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UAF：パスワードレス</a:t>
            </a:r>
          </a:p>
          <a:p>
            <a:pPr algn="l">
              <a:lnSpc>
                <a:spcPct val="114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U2F：第2要素 → CTAP1として整理</a:t>
            </a:r>
          </a:p>
        </p:txBody>
      </p:sp>
    </p:spTree>
    <p:extLst>
      <p:ext uri="{BB962C8B-B14F-4D97-AF65-F5344CB8AC3E}">
        <p14:creationId xmlns:p14="http://schemas.microsoft.com/office/powerpoint/2010/main" val="1598326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927B88A-D492-4608-9C6F-2698F1E8587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CD68A7-054C-4EA1-ADAA-5FC498F206AF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05 / ARCHITECTURE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7E3404-6DC5-4930-8120-13C9C463284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WebAuthnは、RPから認証器までを役割で分ける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9C1BD3-C00B-4911-A44B-EDFFCA3BC76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5D85731-D53A-4FEF-9334-C7833814180C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6" name="下矢印 5">
            <a:extLst>
              <a:ext uri="{FF2B5EF4-FFF2-40B4-BE49-F238E27FC236}">
                <a16:creationId xmlns:a16="http://schemas.microsoft.com/office/drawing/2014/main" id="{EE10DA2F-0BCE-4E17-962F-73143554CBF9}"/>
              </a:ext>
            </a:extLst>
          </p:cNvPr>
          <p:cNvSpPr>
            <a:spLocks noGrp="1"/>
          </p:cNvSpPr>
          <p:nvPr/>
        </p:nvSpPr>
        <p:spPr>
          <a:xfrm>
            <a:off x="5905500" y="2400300"/>
            <a:ext cx="266700" cy="342900"/>
          </a:xfrm>
          <a:prstGeom prst="down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854085B8-9D92-4E1F-A192-D17A522383AA}"/>
              </a:ext>
            </a:extLst>
          </p:cNvPr>
          <p:cNvSpPr>
            <a:spLocks noGrp="1"/>
          </p:cNvSpPr>
          <p:nvPr/>
        </p:nvSpPr>
        <p:spPr>
          <a:xfrm>
            <a:off x="5905500" y="3562350"/>
            <a:ext cx="266700" cy="342900"/>
          </a:xfrm>
          <a:prstGeom prst="down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左矢印 7">
            <a:extLst>
              <a:ext uri="{FF2B5EF4-FFF2-40B4-BE49-F238E27FC236}">
                <a16:creationId xmlns:a16="http://schemas.microsoft.com/office/drawing/2014/main" id="{78AF527B-F223-481C-A4E7-157E101E2CB2}"/>
              </a:ext>
            </a:extLst>
          </p:cNvPr>
          <p:cNvSpPr>
            <a:spLocks noGrp="1"/>
          </p:cNvSpPr>
          <p:nvPr/>
        </p:nvSpPr>
        <p:spPr>
          <a:xfrm>
            <a:off x="3181350" y="4953000"/>
            <a:ext cx="2190750" cy="190500"/>
          </a:xfrm>
          <a:prstGeom prst="lef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8D1D5F72-1E45-49ED-A50B-D34BEB99DF0A}"/>
              </a:ext>
            </a:extLst>
          </p:cNvPr>
          <p:cNvSpPr>
            <a:spLocks noGrp="1"/>
          </p:cNvSpPr>
          <p:nvPr/>
        </p:nvSpPr>
        <p:spPr>
          <a:xfrm>
            <a:off x="6819900" y="4953000"/>
            <a:ext cx="219075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A8AA4417-860A-4399-903C-F42B43C14E57}"/>
              </a:ext>
            </a:extLst>
          </p:cNvPr>
          <p:cNvSpPr>
            <a:spLocks noGrp="1"/>
          </p:cNvSpPr>
          <p:nvPr/>
        </p:nvSpPr>
        <p:spPr>
          <a:xfrm>
            <a:off x="2266950" y="3352800"/>
            <a:ext cx="1714500" cy="2095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DED7DCE-A8D5-49B6-9470-974E694DEF90}"/>
              </a:ext>
            </a:extLst>
          </p:cNvPr>
          <p:cNvSpPr>
            <a:spLocks noGrp="1"/>
          </p:cNvSpPr>
          <p:nvPr/>
        </p:nvSpPr>
        <p:spPr>
          <a:xfrm>
            <a:off x="6305550" y="253365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HTTPS / 独自API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4C72685-A7F3-4390-AD0B-D16ECD88DE7F}"/>
              </a:ext>
            </a:extLst>
          </p:cNvPr>
          <p:cNvSpPr>
            <a:spLocks noGrp="1"/>
          </p:cNvSpPr>
          <p:nvPr/>
        </p:nvSpPr>
        <p:spPr>
          <a:xfrm>
            <a:off x="6305550" y="36957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WebAuthn API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19A4BBE5-BFB7-4838-8AB8-BA1A59A123B6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428750" cy="1428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EE70C15-3313-495E-BCCF-325BA93FA1B6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14287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利用者</a:t>
            </a: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7F49155C-5560-4585-8C6F-D83FA509A9F0}"/>
              </a:ext>
            </a:extLst>
          </p:cNvPr>
          <p:cNvSpPr>
            <a:spLocks noGrp="1"/>
          </p:cNvSpPr>
          <p:nvPr/>
        </p:nvSpPr>
        <p:spPr>
          <a:xfrm>
            <a:off x="4171950" y="1676400"/>
            <a:ext cx="38481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3569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EF3B65A-4369-49D5-B8FD-A2DB318DC673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 SERVER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FB5E2D6-8A5C-4691-9C1E-40C221EA2862}"/>
              </a:ext>
            </a:extLst>
          </p:cNvPr>
          <p:cNvSpPr>
            <a:spLocks noGrp="1"/>
          </p:cNvSpPr>
          <p:nvPr/>
        </p:nvSpPr>
        <p:spPr>
          <a:xfrm>
            <a:off x="4400550" y="207645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challengeを発行し、公開鍵で検証</a:t>
            </a: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A079E0A5-A107-49E3-9873-F9BB71D82D29}"/>
              </a:ext>
            </a:extLst>
          </p:cNvPr>
          <p:cNvSpPr>
            <a:spLocks noGrp="1"/>
          </p:cNvSpPr>
          <p:nvPr/>
        </p:nvSpPr>
        <p:spPr>
          <a:xfrm>
            <a:off x="4171950" y="2838450"/>
            <a:ext cx="38481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0F9D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CB7B783-2BDD-4280-97F9-FE80D277A84A}"/>
              </a:ext>
            </a:extLst>
          </p:cNvPr>
          <p:cNvSpPr>
            <a:spLocks noGrp="1"/>
          </p:cNvSpPr>
          <p:nvPr/>
        </p:nvSpPr>
        <p:spPr>
          <a:xfrm>
            <a:off x="4400550" y="29718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WEB APP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66DD78A-ACA6-497B-A762-296BF929ABB7}"/>
              </a:ext>
            </a:extLst>
          </p:cNvPr>
          <p:cNvSpPr>
            <a:spLocks noGrp="1"/>
          </p:cNvSpPr>
          <p:nvPr/>
        </p:nvSpPr>
        <p:spPr>
          <a:xfrm>
            <a:off x="4400550" y="323850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サービス独自APIとWebAuthn APIを接続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64B8242F-2DCA-45E3-8330-0D3011AF43C2}"/>
              </a:ext>
            </a:extLst>
          </p:cNvPr>
          <p:cNvSpPr>
            <a:spLocks noGrp="1"/>
          </p:cNvSpPr>
          <p:nvPr/>
        </p:nvSpPr>
        <p:spPr>
          <a:xfrm>
            <a:off x="4171950" y="4000500"/>
            <a:ext cx="38481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40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897CD3C-32DF-47F2-88B3-9F82E8055ADB}"/>
              </a:ext>
            </a:extLst>
          </p:cNvPr>
          <p:cNvSpPr>
            <a:spLocks noGrp="1"/>
          </p:cNvSpPr>
          <p:nvPr/>
        </p:nvSpPr>
        <p:spPr>
          <a:xfrm>
            <a:off x="4400550" y="413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BROWSER / OS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1AECA1E-141F-4DAB-9829-D0CB657259F7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認証器を探索・選択し、データを変換</a:t>
            </a: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529AD340-94B0-4222-8FC6-F810A06A1B08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4000500" cy="742950"/>
          </a:xfrm>
          <a:prstGeom prst="roundRect">
            <a:avLst>
              <a:gd name="adj" fmla="val 10256"/>
            </a:avLst>
          </a:prstGeom>
          <a:solidFill>
            <a:srgbClr val="F9EFCF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815E47F-301A-4783-973A-969A1C857B39}"/>
              </a:ext>
            </a:extLst>
          </p:cNvPr>
          <p:cNvSpPr>
            <a:spLocks noGrp="1"/>
          </p:cNvSpPr>
          <p:nvPr/>
        </p:nvSpPr>
        <p:spPr>
          <a:xfrm>
            <a:off x="1104900" y="546735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プラットフォーム認証器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E5BD4FE-DB69-4F50-A211-EA8450C509DB}"/>
              </a:ext>
            </a:extLst>
          </p:cNvPr>
          <p:cNvSpPr>
            <a:spLocks noGrp="1"/>
          </p:cNvSpPr>
          <p:nvPr/>
        </p:nvSpPr>
        <p:spPr>
          <a:xfrm>
            <a:off x="1028700" y="5753100"/>
            <a:ext cx="3695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端末内 / Windows Hello・iCloudキーチェーン</a:t>
            </a: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A6FEA40D-3562-4B42-9BC5-40FFA3946D83}"/>
              </a:ext>
            </a:extLst>
          </p:cNvPr>
          <p:cNvSpPr>
            <a:spLocks noGrp="1"/>
          </p:cNvSpPr>
          <p:nvPr/>
        </p:nvSpPr>
        <p:spPr>
          <a:xfrm>
            <a:off x="7315200" y="5314950"/>
            <a:ext cx="4000500" cy="742950"/>
          </a:xfrm>
          <a:prstGeom prst="roundRect">
            <a:avLst>
              <a:gd name="adj" fmla="val 10256"/>
            </a:avLst>
          </a:prstGeom>
          <a:solidFill>
            <a:srgbClr val="E6EDFC"/>
          </a:solidFill>
          <a:ln w="19050">
            <a:solidFill>
              <a:srgbClr val="3569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B527DBC-83A7-4176-98D4-1DE3B1A20277}"/>
              </a:ext>
            </a:extLst>
          </p:cNvPr>
          <p:cNvSpPr>
            <a:spLocks noGrp="1"/>
          </p:cNvSpPr>
          <p:nvPr/>
        </p:nvSpPr>
        <p:spPr>
          <a:xfrm>
            <a:off x="7543800" y="546735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ローミング認証器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C30F985-4B24-4536-879F-CB5D3004714A}"/>
              </a:ext>
            </a:extLst>
          </p:cNvPr>
          <p:cNvSpPr>
            <a:spLocks noGrp="1"/>
          </p:cNvSpPr>
          <p:nvPr/>
        </p:nvSpPr>
        <p:spPr>
          <a:xfrm>
            <a:off x="7543800" y="5753100"/>
            <a:ext cx="3543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CTAP  /  セキュリティキー・別端末</a:t>
            </a:r>
          </a:p>
        </p:txBody>
      </p:sp>
    </p:spTree>
    <p:extLst>
      <p:ext uri="{BB962C8B-B14F-4D97-AF65-F5344CB8AC3E}">
        <p14:creationId xmlns:p14="http://schemas.microsoft.com/office/powerpoint/2010/main" val="90886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BE900B2-8F1C-45C1-A474-983D80412DE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218CDE-D214-4F26-B03F-135790499F9A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06 / AUTHENTICATORS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E115600-C805-4AF1-A33B-FC177BD4AAB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認証器の場所は違っても、秘密鍵を守る役割は同じ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F4184F-4E8A-4147-B049-F5487AD98902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970839D-5233-466A-9536-B346BB4E8328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5D11ED2-B3C6-4909-BC08-187005BAA444}"/>
              </a:ext>
            </a:extLst>
          </p:cNvPr>
          <p:cNvSpPr>
            <a:spLocks noGrp="1"/>
          </p:cNvSpPr>
          <p:nvPr/>
        </p:nvSpPr>
        <p:spPr>
          <a:xfrm>
            <a:off x="6019800" y="1733550"/>
            <a:ext cx="9525" cy="39624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AE07F153-5A61-498B-9A4F-AA9335E9894B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F9EF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66824E1-3326-49D2-86A2-C36FF7763CF2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143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同じ端末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E78CEE2-6F00-4E58-B2AF-1CCE1B80CEBF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プラットフォーム認証器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150071EA-7216-4D3D-BA43-D53345E087F6}"/>
              </a:ext>
            </a:extLst>
          </p:cNvPr>
          <p:cNvSpPr>
            <a:spLocks noGrp="1"/>
          </p:cNvSpPr>
          <p:nvPr/>
        </p:nvSpPr>
        <p:spPr>
          <a:xfrm>
            <a:off x="1009650" y="3048000"/>
            <a:ext cx="1428750" cy="1428750"/>
          </a:xfrm>
          <a:prstGeom prst="ellipse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BFC89D8-F67E-4A12-BD28-8F2806C5C6B3}"/>
              </a:ext>
            </a:extLst>
          </p:cNvPr>
          <p:cNvSpPr>
            <a:spLocks noGrp="1"/>
          </p:cNvSpPr>
          <p:nvPr/>
        </p:nvSpPr>
        <p:spPr>
          <a:xfrm>
            <a:off x="1009650" y="3067050"/>
            <a:ext cx="14287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端末内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EBD58F4-F325-4DBF-BADC-80C486BA43D5}"/>
              </a:ext>
            </a:extLst>
          </p:cNvPr>
          <p:cNvSpPr>
            <a:spLocks noGrp="1"/>
          </p:cNvSpPr>
          <p:nvPr/>
        </p:nvSpPr>
        <p:spPr>
          <a:xfrm>
            <a:off x="2914650" y="31242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ブラウザ / OS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73DF865-3727-401A-AC3C-795203AEAA80}"/>
              </a:ext>
            </a:extLst>
          </p:cNvPr>
          <p:cNvSpPr>
            <a:spLocks noGrp="1"/>
          </p:cNvSpPr>
          <p:nvPr/>
        </p:nvSpPr>
        <p:spPr>
          <a:xfrm>
            <a:off x="2914650" y="3581400"/>
            <a:ext cx="2571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端末内部の経路で利用</a:t>
            </a:r>
          </a:p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Windows Hello</a:t>
            </a:r>
          </a:p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iCloudキーチェーン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EE5DC563-50C2-4677-95A9-F4B17C95E3B0}"/>
              </a:ext>
            </a:extLst>
          </p:cNvPr>
          <p:cNvSpPr>
            <a:spLocks noGrp="1"/>
          </p:cNvSpPr>
          <p:nvPr/>
        </p:nvSpPr>
        <p:spPr>
          <a:xfrm>
            <a:off x="6438900" y="17335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E6ED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A4D60FE-4535-4FEE-9733-8177C0C5DBAD}"/>
              </a:ext>
            </a:extLst>
          </p:cNvPr>
          <p:cNvSpPr>
            <a:spLocks noGrp="1"/>
          </p:cNvSpPr>
          <p:nvPr/>
        </p:nvSpPr>
        <p:spPr>
          <a:xfrm>
            <a:off x="6438900" y="1743075"/>
            <a:ext cx="1143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別の機器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85880DE-88E3-4049-8FC3-E24FF5D03038}"/>
              </a:ext>
            </a:extLst>
          </p:cNvPr>
          <p:cNvSpPr>
            <a:spLocks noGrp="1"/>
          </p:cNvSpPr>
          <p:nvPr/>
        </p:nvSpPr>
        <p:spPr>
          <a:xfrm>
            <a:off x="6438900" y="22669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ローミング認証器</a:t>
            </a:r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20731B45-D15E-407D-8A84-93EDBDD5F086}"/>
              </a:ext>
            </a:extLst>
          </p:cNvPr>
          <p:cNvSpPr>
            <a:spLocks noGrp="1"/>
          </p:cNvSpPr>
          <p:nvPr/>
        </p:nvSpPr>
        <p:spPr>
          <a:xfrm>
            <a:off x="8534400" y="3219450"/>
            <a:ext cx="857250" cy="2095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E600F35-11B7-4C7D-A299-A37784EEE290}"/>
              </a:ext>
            </a:extLst>
          </p:cNvPr>
          <p:cNvSpPr>
            <a:spLocks noGrp="1"/>
          </p:cNvSpPr>
          <p:nvPr/>
        </p:nvSpPr>
        <p:spPr>
          <a:xfrm>
            <a:off x="6438900" y="31242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ブラウザ / OS</a:t>
            </a: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1499FB41-55BE-4D57-92E1-8F85B8C9D360}"/>
              </a:ext>
            </a:extLst>
          </p:cNvPr>
          <p:cNvSpPr>
            <a:spLocks noGrp="1"/>
          </p:cNvSpPr>
          <p:nvPr/>
        </p:nvSpPr>
        <p:spPr>
          <a:xfrm>
            <a:off x="9601200" y="2876550"/>
            <a:ext cx="1428750" cy="1428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C5EDEF8-1193-470A-9CA6-6CA5394E036D}"/>
              </a:ext>
            </a:extLst>
          </p:cNvPr>
          <p:cNvSpPr>
            <a:spLocks noGrp="1"/>
          </p:cNvSpPr>
          <p:nvPr/>
        </p:nvSpPr>
        <p:spPr>
          <a:xfrm>
            <a:off x="9601200" y="2895600"/>
            <a:ext cx="14287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外部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9CF12CA-14FD-4BF5-ACDD-8091D795B789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2857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CTAPで接続</a:t>
            </a:r>
          </a:p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USB・NFC・BLE・hybrid</a:t>
            </a:r>
          </a:p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YubiKey・スマートフォン</a:t>
            </a:r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A9A1A524-84F1-4556-B4DE-369F90DD3E08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820400" cy="800100"/>
          </a:xfrm>
          <a:prstGeom prst="roundRect">
            <a:avLst>
              <a:gd name="adj" fmla="val 9524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22A128B-2C83-4509-AD31-E9CFBC3C90FB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共通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D399EF5-E0E1-4D10-8DBA-5A0DA668E4CA}"/>
              </a:ext>
            </a:extLst>
          </p:cNvPr>
          <p:cNvSpPr>
            <a:spLocks noGrp="1"/>
          </p:cNvSpPr>
          <p:nvPr/>
        </p:nvSpPr>
        <p:spPr>
          <a:xfrm>
            <a:off x="1847850" y="5314950"/>
            <a:ext cx="904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本人確認後に秘密鍵を使って署名し、秘密鍵そのものは外へ出さない</a:t>
            </a:r>
          </a:p>
        </p:txBody>
      </p:sp>
    </p:spTree>
    <p:extLst>
      <p:ext uri="{BB962C8B-B14F-4D97-AF65-F5344CB8AC3E}">
        <p14:creationId xmlns:p14="http://schemas.microsoft.com/office/powerpoint/2010/main" val="1565728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24BC183-4448-4672-ACEC-6104722FCBD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10E7E5-DBB0-4E4B-8857-462DAD9632C1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07 / REGISTRATION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D16F49-5A14-4ED6-A67B-225C541BCDD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登録は、鍵ペアを作り、公開鍵をRPへ預ける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840B18-27BE-4D45-86CE-3C46C8DBBD59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CF6A75B-0F09-4511-8987-B16C2F6D0281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4569E48-2518-4A74-8748-2F9BCEBB295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秘密鍵を認証器に残したまま、検証に必要な情報だけをサーバーへ保存する。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8C610577-94FB-4BA1-BB20-E8D8B40E50C0}"/>
              </a:ext>
            </a:extLst>
          </p:cNvPr>
          <p:cNvSpPr>
            <a:spLocks noGrp="1"/>
          </p:cNvSpPr>
          <p:nvPr/>
        </p:nvSpPr>
        <p:spPr>
          <a:xfrm>
            <a:off x="1466850" y="2609850"/>
            <a:ext cx="64770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AA11EA90-01AD-460D-A0B1-95CA971EFF77}"/>
              </a:ext>
            </a:extLst>
          </p:cNvPr>
          <p:cNvSpPr>
            <a:spLocks noGrp="1"/>
          </p:cNvSpPr>
          <p:nvPr/>
        </p:nvSpPr>
        <p:spPr>
          <a:xfrm>
            <a:off x="3638550" y="2609850"/>
            <a:ext cx="64770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517D60EE-8CF5-4669-A1A1-0CCA574577D8}"/>
              </a:ext>
            </a:extLst>
          </p:cNvPr>
          <p:cNvSpPr>
            <a:spLocks noGrp="1"/>
          </p:cNvSpPr>
          <p:nvPr/>
        </p:nvSpPr>
        <p:spPr>
          <a:xfrm>
            <a:off x="5810250" y="2609850"/>
            <a:ext cx="64770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846AE7F5-BCD5-49C0-88D8-ADA88D534DAE}"/>
              </a:ext>
            </a:extLst>
          </p:cNvPr>
          <p:cNvSpPr>
            <a:spLocks noGrp="1"/>
          </p:cNvSpPr>
          <p:nvPr/>
        </p:nvSpPr>
        <p:spPr>
          <a:xfrm>
            <a:off x="7981950" y="2609850"/>
            <a:ext cx="64770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7F453CE5-397D-4D48-B276-9672515C59EA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704850" cy="7048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03C561D-1862-4280-898C-CAFB5A0AAA79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6C1C29C-3C6D-4B09-A940-329198EB2D4C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CF41310-DE30-4561-BC1C-587AC6831F62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RPが生成し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一時保存</a:t>
            </a:r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75FF2984-B396-47DE-9CA9-09B18ED494D5}"/>
              </a:ext>
            </a:extLst>
          </p:cNvPr>
          <p:cNvSpPr>
            <a:spLocks noGrp="1"/>
          </p:cNvSpPr>
          <p:nvPr/>
        </p:nvSpPr>
        <p:spPr>
          <a:xfrm>
            <a:off x="2857500" y="2266950"/>
            <a:ext cx="704850" cy="7048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BC208A3-A4F4-4C99-A2CB-5B2631848E5E}"/>
              </a:ext>
            </a:extLst>
          </p:cNvPr>
          <p:cNvSpPr>
            <a:spLocks noGrp="1"/>
          </p:cNvSpPr>
          <p:nvPr/>
        </p:nvSpPr>
        <p:spPr>
          <a:xfrm>
            <a:off x="28575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7B29251-3DE4-4B8E-892C-1BE344A3EE5C}"/>
              </a:ext>
            </a:extLst>
          </p:cNvPr>
          <p:cNvSpPr>
            <a:spLocks noGrp="1"/>
          </p:cNvSpPr>
          <p:nvPr/>
        </p:nvSpPr>
        <p:spPr>
          <a:xfrm>
            <a:off x="28575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7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create()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70F8AD3-65E3-4D33-9BDA-47AAF604DF5B}"/>
              </a:ext>
            </a:extLst>
          </p:cNvPr>
          <p:cNvSpPr>
            <a:spLocks noGrp="1"/>
          </p:cNvSpPr>
          <p:nvPr/>
        </p:nvSpPr>
        <p:spPr>
          <a:xfrm>
            <a:off x="28575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登録オプションで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認証器を呼ぶ</a:t>
            </a: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96202B9A-4265-48AD-A213-4F74DD261259}"/>
              </a:ext>
            </a:extLst>
          </p:cNvPr>
          <p:cNvSpPr>
            <a:spLocks noGrp="1"/>
          </p:cNvSpPr>
          <p:nvPr/>
        </p:nvSpPr>
        <p:spPr>
          <a:xfrm>
            <a:off x="5029200" y="2266950"/>
            <a:ext cx="704850" cy="704850"/>
          </a:xfrm>
          <a:prstGeom prst="ellipse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7CDE343-8B3F-49B7-B52A-7AC6D88D9CB0}"/>
              </a:ext>
            </a:extLst>
          </p:cNvPr>
          <p:cNvSpPr>
            <a:spLocks noGrp="1"/>
          </p:cNvSpPr>
          <p:nvPr/>
        </p:nvSpPr>
        <p:spPr>
          <a:xfrm>
            <a:off x="50292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5AC741A-9BD5-4A62-96E8-5E12F9C689C3}"/>
              </a:ext>
            </a:extLst>
          </p:cNvPr>
          <p:cNvSpPr>
            <a:spLocks noGrp="1"/>
          </p:cNvSpPr>
          <p:nvPr/>
        </p:nvSpPr>
        <p:spPr>
          <a:xfrm>
            <a:off x="50292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rPr>
              <a:t>本人確認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A6334D0-1075-40CD-B389-DC39D225A399}"/>
              </a:ext>
            </a:extLst>
          </p:cNvPr>
          <p:cNvSpPr>
            <a:spLocks noGrp="1"/>
          </p:cNvSpPr>
          <p:nvPr/>
        </p:nvSpPr>
        <p:spPr>
          <a:xfrm>
            <a:off x="50292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生体認証・PIN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同意を確認</a:t>
            </a: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50648ABB-DF1D-461F-9C27-3D9D9D34DC7A}"/>
              </a:ext>
            </a:extLst>
          </p:cNvPr>
          <p:cNvSpPr>
            <a:spLocks noGrp="1"/>
          </p:cNvSpPr>
          <p:nvPr/>
        </p:nvSpPr>
        <p:spPr>
          <a:xfrm>
            <a:off x="7200900" y="2266950"/>
            <a:ext cx="704850" cy="704850"/>
          </a:xfrm>
          <a:prstGeom prst="ellipse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78E84DF-CEA2-4865-9766-D51FC30961F8}"/>
              </a:ext>
            </a:extLst>
          </p:cNvPr>
          <p:cNvSpPr>
            <a:spLocks noGrp="1"/>
          </p:cNvSpPr>
          <p:nvPr/>
        </p:nvSpPr>
        <p:spPr>
          <a:xfrm>
            <a:off x="72009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3543645-B560-4790-BB72-550A75BC0B43}"/>
              </a:ext>
            </a:extLst>
          </p:cNvPr>
          <p:cNvSpPr>
            <a:spLocks noGrp="1"/>
          </p:cNvSpPr>
          <p:nvPr/>
        </p:nvSpPr>
        <p:spPr>
          <a:xfrm>
            <a:off x="72009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rPr>
              <a:t>鍵ペア生成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2FCE42E-D589-4144-AF54-33F105B0AEC1}"/>
              </a:ext>
            </a:extLst>
          </p:cNvPr>
          <p:cNvSpPr>
            <a:spLocks noGrp="1"/>
          </p:cNvSpPr>
          <p:nvPr/>
        </p:nvSpPr>
        <p:spPr>
          <a:xfrm>
            <a:off x="72009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秘密鍵は残し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公開鍵を返す</a:t>
            </a:r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19E235D2-AD7A-46AB-A54C-D66C56826917}"/>
              </a:ext>
            </a:extLst>
          </p:cNvPr>
          <p:cNvSpPr>
            <a:spLocks noGrp="1"/>
          </p:cNvSpPr>
          <p:nvPr/>
        </p:nvSpPr>
        <p:spPr>
          <a:xfrm>
            <a:off x="9372600" y="2266950"/>
            <a:ext cx="704850" cy="7048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6859B80-6ED0-41DE-BABF-8BBD5F425DA5}"/>
              </a:ext>
            </a:extLst>
          </p:cNvPr>
          <p:cNvSpPr>
            <a:spLocks noGrp="1"/>
          </p:cNvSpPr>
          <p:nvPr/>
        </p:nvSpPr>
        <p:spPr>
          <a:xfrm>
            <a:off x="93726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2C657F0-650A-4E8B-B7F4-D2D82C623DB5}"/>
              </a:ext>
            </a:extLst>
          </p:cNvPr>
          <p:cNvSpPr>
            <a:spLocks noGrp="1"/>
          </p:cNvSpPr>
          <p:nvPr/>
        </p:nvSpPr>
        <p:spPr>
          <a:xfrm>
            <a:off x="93726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検証・保存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D40980D-9D28-4207-8096-4956C22C7636}"/>
              </a:ext>
            </a:extLst>
          </p:cNvPr>
          <p:cNvSpPr>
            <a:spLocks noGrp="1"/>
          </p:cNvSpPr>
          <p:nvPr/>
        </p:nvSpPr>
        <p:spPr>
          <a:xfrm>
            <a:off x="93726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 / origin / RP ID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Credential ID・公開鍵</a:t>
            </a:r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6EBB4092-9A50-4B39-AB70-D8A202B1B6B6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1009650"/>
          </a:xfrm>
          <a:prstGeom prst="roundRect">
            <a:avLst>
              <a:gd name="adj" fmla="val 7547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C8D4E49-CCEB-46D9-94F2-9B9F1B2070F2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登録後の状態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04F1E68-7F38-450D-850C-465D146AA801}"/>
              </a:ext>
            </a:extLst>
          </p:cNvPr>
          <p:cNvSpPr>
            <a:spLocks noGrp="1"/>
          </p:cNvSpPr>
          <p:nvPr/>
        </p:nvSpPr>
        <p:spPr>
          <a:xfrm>
            <a:off x="2571750" y="50482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認証器：秘密鍵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AAF2E9D-4FDE-4D64-ABB3-97F60F8DA87F}"/>
              </a:ext>
            </a:extLst>
          </p:cNvPr>
          <p:cNvSpPr>
            <a:spLocks noGrp="1"/>
          </p:cNvSpPr>
          <p:nvPr/>
        </p:nvSpPr>
        <p:spPr>
          <a:xfrm>
            <a:off x="5295900" y="5048250"/>
            <a:ext cx="556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RPサーバー：Credential ID・公開鍵・ユーザーとの対応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E87E20D-F530-4CA0-A209-72D96CF89277}"/>
              </a:ext>
            </a:extLst>
          </p:cNvPr>
          <p:cNvSpPr>
            <a:spLocks noGrp="1"/>
          </p:cNvSpPr>
          <p:nvPr/>
        </p:nvSpPr>
        <p:spPr>
          <a:xfrm>
            <a:off x="2571750" y="54673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rPr>
              <a:t>秘密鍵はRPへ送られない</a:t>
            </a:r>
          </a:p>
        </p:txBody>
      </p:sp>
    </p:spTree>
    <p:extLst>
      <p:ext uri="{BB962C8B-B14F-4D97-AF65-F5344CB8AC3E}">
        <p14:creationId xmlns:p14="http://schemas.microsoft.com/office/powerpoint/2010/main" val="1738579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1F032A1-DA1F-43DB-BC40-9624AF0EF7D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D79AA19-FCD2-47A0-8EB9-E3425118569E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08 / CHALLENGE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12C847F-E1C5-4A35-97CE-F5148CF1033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challengeは、今回の要求への応答だけを有効にする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AA9756B-D118-4735-8F53-54A0DD8AF7D4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FF758D6-17CF-4608-8035-2820711CF4B6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4D23B22-72A4-4C17-ABDF-07E78AB5F6A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76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十分にランダムな一度きりの値で、過去のレスポンス再利用を防ぐ。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BAD7297D-A80D-42A0-A9A1-623E549CDA9A}"/>
              </a:ext>
            </a:extLst>
          </p:cNvPr>
          <p:cNvSpPr>
            <a:spLocks noGrp="1"/>
          </p:cNvSpPr>
          <p:nvPr/>
        </p:nvSpPr>
        <p:spPr>
          <a:xfrm>
            <a:off x="3067050" y="2762250"/>
            <a:ext cx="78105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5C047F71-372E-434C-8254-5AFB437E55B7}"/>
              </a:ext>
            </a:extLst>
          </p:cNvPr>
          <p:cNvSpPr>
            <a:spLocks noGrp="1"/>
          </p:cNvSpPr>
          <p:nvPr/>
        </p:nvSpPr>
        <p:spPr>
          <a:xfrm>
            <a:off x="6724650" y="2762250"/>
            <a:ext cx="78105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BEC8E1D8-386E-41B8-9DD4-B116DD0D70D5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723900" cy="72390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97FCCC4-240E-47E2-A869-27EB6B2DA7B3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CAE6160-87EF-4C78-AA2D-4E0E25CD6F1B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発行・保存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305F3D4-DFDA-408F-8FB8-EE9ECB726B19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RPサーバーが生成</a:t>
            </a:r>
          </a:p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期限・用途と一緒に保持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F07F5CFB-671A-4B49-89A0-8FF8CC96E904}"/>
              </a:ext>
            </a:extLst>
          </p:cNvPr>
          <p:cNvSpPr>
            <a:spLocks noGrp="1"/>
          </p:cNvSpPr>
          <p:nvPr/>
        </p:nvSpPr>
        <p:spPr>
          <a:xfrm>
            <a:off x="3867150" y="2266950"/>
            <a:ext cx="723900" cy="72390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114B2FC-94C8-47A8-857E-EBD37576B5A9}"/>
              </a:ext>
            </a:extLst>
          </p:cNvPr>
          <p:cNvSpPr>
            <a:spLocks noGrp="1"/>
          </p:cNvSpPr>
          <p:nvPr/>
        </p:nvSpPr>
        <p:spPr>
          <a:xfrm>
            <a:off x="3867150" y="22860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1FE6042-DC9D-41E5-8518-FFEB739DDCB5}"/>
              </a:ext>
            </a:extLst>
          </p:cNvPr>
          <p:cNvSpPr>
            <a:spLocks noGrp="1"/>
          </p:cNvSpPr>
          <p:nvPr/>
        </p:nvSpPr>
        <p:spPr>
          <a:xfrm>
            <a:off x="3867150" y="3238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応答に結び付ける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3B548CD-4144-4C20-8CE3-FB44296D34FF}"/>
              </a:ext>
            </a:extLst>
          </p:cNvPr>
          <p:cNvSpPr>
            <a:spLocks noGrp="1"/>
          </p:cNvSpPr>
          <p:nvPr/>
        </p:nvSpPr>
        <p:spPr>
          <a:xfrm>
            <a:off x="3867150" y="37338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clientDataJSONに含まれ</a:t>
            </a:r>
          </a:p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署名対象へ組み込まれる</a:t>
            </a:r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0065A6A9-5D96-4D27-9980-65726F3BBA66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723900" cy="72390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4DC542D-681E-48EF-9F4A-3DB97D41D589}"/>
              </a:ext>
            </a:extLst>
          </p:cNvPr>
          <p:cNvSpPr>
            <a:spLocks noGrp="1"/>
          </p:cNvSpPr>
          <p:nvPr/>
        </p:nvSpPr>
        <p:spPr>
          <a:xfrm>
            <a:off x="7524750" y="22860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BBBB13A-96B8-4205-A5D4-FE411ED627AC}"/>
              </a:ext>
            </a:extLst>
          </p:cNvPr>
          <p:cNvSpPr>
            <a:spLocks noGrp="1"/>
          </p:cNvSpPr>
          <p:nvPr/>
        </p:nvSpPr>
        <p:spPr>
          <a:xfrm>
            <a:off x="7524750" y="3238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一致を検証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3D2C2BC-D2B6-41A5-A2BF-0C771E6CAA18}"/>
              </a:ext>
            </a:extLst>
          </p:cNvPr>
          <p:cNvSpPr>
            <a:spLocks noGrp="1"/>
          </p:cNvSpPr>
          <p:nvPr/>
        </p:nvSpPr>
        <p:spPr>
          <a:xfrm>
            <a:off x="7524750" y="37338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発行済み値と一致すれば</a:t>
            </a:r>
          </a:p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今回の応答と判断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2D59CBA4-018B-43FF-85DB-3F3A0A82288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F9E7E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7C272E9-7137-487D-A5F3-3EEA1BC81218}"/>
              </a:ext>
            </a:extLst>
          </p:cNvPr>
          <p:cNvSpPr>
            <a:spLocks noGrp="1"/>
          </p:cNvSpPr>
          <p:nvPr/>
        </p:nvSpPr>
        <p:spPr>
          <a:xfrm>
            <a:off x="914400" y="5162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リプレイ攻撃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61A8120-2DAC-499E-A502-BE0BC8E08616}"/>
              </a:ext>
            </a:extLst>
          </p:cNvPr>
          <p:cNvSpPr>
            <a:spLocks noGrp="1"/>
          </p:cNvSpPr>
          <p:nvPr/>
        </p:nvSpPr>
        <p:spPr>
          <a:xfrm>
            <a:off x="2552700" y="5143500"/>
            <a:ext cx="836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以前の署名済みレスポンスを再送しても、challengeが一致しないため拒否できる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E28C188-B7C5-4826-AED4-44B4565A35C8}"/>
              </a:ext>
            </a:extLst>
          </p:cNvPr>
          <p:cNvSpPr>
            <a:spLocks noGrp="1"/>
          </p:cNvSpPr>
          <p:nvPr/>
        </p:nvSpPr>
        <p:spPr>
          <a:xfrm>
            <a:off x="2552700" y="5505450"/>
            <a:ext cx="836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検証後は使用済みchallengeを消費し、再利用できない状態にする。</a:t>
            </a:r>
          </a:p>
        </p:txBody>
      </p:sp>
    </p:spTree>
    <p:extLst>
      <p:ext uri="{BB962C8B-B14F-4D97-AF65-F5344CB8AC3E}">
        <p14:creationId xmlns:p14="http://schemas.microsoft.com/office/powerpoint/2010/main" val="2106889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57A7F65-71E3-4049-83E6-81101BFD919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724D9B5-45C2-4F3E-B071-AD4C6634C9A5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09 / AUTHENTICATION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4F13165-9972-4372-A00F-AD89D58C91F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認証は、登録済み秘密鍵を持つことを署名で証明する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5B8C85-C443-4E6E-A446-A514D4D238C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A699A5B-54A9-428C-8B1D-5EBD84D2FF56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0BBCFE-2F47-4836-A1C3-4C08D4A0CAC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公開鍵で署名を検証できたときだけ、RPがログイン済みセッションを発行する。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12141A6A-A0C2-4A5F-B72B-CAD49E8E6571}"/>
              </a:ext>
            </a:extLst>
          </p:cNvPr>
          <p:cNvSpPr>
            <a:spLocks noGrp="1"/>
          </p:cNvSpPr>
          <p:nvPr/>
        </p:nvSpPr>
        <p:spPr>
          <a:xfrm>
            <a:off x="1466850" y="2609850"/>
            <a:ext cx="64770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6F5AB423-99AB-4A63-8CCE-AA7E93C31AE3}"/>
              </a:ext>
            </a:extLst>
          </p:cNvPr>
          <p:cNvSpPr>
            <a:spLocks noGrp="1"/>
          </p:cNvSpPr>
          <p:nvPr/>
        </p:nvSpPr>
        <p:spPr>
          <a:xfrm>
            <a:off x="3638550" y="2609850"/>
            <a:ext cx="64770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CEB0496C-284F-4010-B18D-165F27669A79}"/>
              </a:ext>
            </a:extLst>
          </p:cNvPr>
          <p:cNvSpPr>
            <a:spLocks noGrp="1"/>
          </p:cNvSpPr>
          <p:nvPr/>
        </p:nvSpPr>
        <p:spPr>
          <a:xfrm>
            <a:off x="5810250" y="2609850"/>
            <a:ext cx="64770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256BDB5A-FDA8-4F30-BF21-6095405D761F}"/>
              </a:ext>
            </a:extLst>
          </p:cNvPr>
          <p:cNvSpPr>
            <a:spLocks noGrp="1"/>
          </p:cNvSpPr>
          <p:nvPr/>
        </p:nvSpPr>
        <p:spPr>
          <a:xfrm>
            <a:off x="7981950" y="2609850"/>
            <a:ext cx="64770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73E4CDB8-3426-48EF-BE4F-AD53892D6A0B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704850" cy="7048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9C29B4-D236-43DD-B40C-280C6CBD2070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7731FD-A782-4583-B76D-8F41D4888F4F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B4B3F0F-8193-41CA-A434-95D95A109FD3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RPが新しい値と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認証オプションを作る</a:t>
            </a:r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953C87E9-7359-4E22-8EF7-B71024F52F39}"/>
              </a:ext>
            </a:extLst>
          </p:cNvPr>
          <p:cNvSpPr>
            <a:spLocks noGrp="1"/>
          </p:cNvSpPr>
          <p:nvPr/>
        </p:nvSpPr>
        <p:spPr>
          <a:xfrm>
            <a:off x="2857500" y="2266950"/>
            <a:ext cx="704850" cy="7048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E7B44CD-D7CF-4C37-A198-BFE5A84B3CEB}"/>
              </a:ext>
            </a:extLst>
          </p:cNvPr>
          <p:cNvSpPr>
            <a:spLocks noGrp="1"/>
          </p:cNvSpPr>
          <p:nvPr/>
        </p:nvSpPr>
        <p:spPr>
          <a:xfrm>
            <a:off x="28575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483E11D-585D-4FEA-88F5-786A0A2E0EF7}"/>
              </a:ext>
            </a:extLst>
          </p:cNvPr>
          <p:cNvSpPr>
            <a:spLocks noGrp="1"/>
          </p:cNvSpPr>
          <p:nvPr/>
        </p:nvSpPr>
        <p:spPr>
          <a:xfrm>
            <a:off x="28575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7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get()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68378AD-946B-4315-9458-6D22EF50EDAB}"/>
              </a:ext>
            </a:extLst>
          </p:cNvPr>
          <p:cNvSpPr>
            <a:spLocks noGrp="1"/>
          </p:cNvSpPr>
          <p:nvPr/>
        </p:nvSpPr>
        <p:spPr>
          <a:xfrm>
            <a:off x="28575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 IDに対応する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資格情報を要求</a:t>
            </a: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F4C0934D-F6C9-4862-8A67-59DE51C34F75}"/>
              </a:ext>
            </a:extLst>
          </p:cNvPr>
          <p:cNvSpPr>
            <a:spLocks noGrp="1"/>
          </p:cNvSpPr>
          <p:nvPr/>
        </p:nvSpPr>
        <p:spPr>
          <a:xfrm>
            <a:off x="5029200" y="2266950"/>
            <a:ext cx="704850" cy="704850"/>
          </a:xfrm>
          <a:prstGeom prst="ellipse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BB1F48F-3886-4B2A-8C04-67E2544C3224}"/>
              </a:ext>
            </a:extLst>
          </p:cNvPr>
          <p:cNvSpPr>
            <a:spLocks noGrp="1"/>
          </p:cNvSpPr>
          <p:nvPr/>
        </p:nvSpPr>
        <p:spPr>
          <a:xfrm>
            <a:off x="50292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2C078FE-85B3-4956-92C0-7AAFC8A7C214}"/>
              </a:ext>
            </a:extLst>
          </p:cNvPr>
          <p:cNvSpPr>
            <a:spLocks noGrp="1"/>
          </p:cNvSpPr>
          <p:nvPr/>
        </p:nvSpPr>
        <p:spPr>
          <a:xfrm>
            <a:off x="50292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rPr>
              <a:t>本人確認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7674D05-0EEA-439E-9187-320740FA11BB}"/>
              </a:ext>
            </a:extLst>
          </p:cNvPr>
          <p:cNvSpPr>
            <a:spLocks noGrp="1"/>
          </p:cNvSpPr>
          <p:nvPr/>
        </p:nvSpPr>
        <p:spPr>
          <a:xfrm>
            <a:off x="50292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生体認証・PIN後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秘密鍵で署名</a:t>
            </a: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0FFB089F-2EBE-4475-B99F-33CAA087D664}"/>
              </a:ext>
            </a:extLst>
          </p:cNvPr>
          <p:cNvSpPr>
            <a:spLocks noGrp="1"/>
          </p:cNvSpPr>
          <p:nvPr/>
        </p:nvSpPr>
        <p:spPr>
          <a:xfrm>
            <a:off x="7200900" y="2266950"/>
            <a:ext cx="704850" cy="7048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FA9D40E-2107-475C-8132-9800A81535A7}"/>
              </a:ext>
            </a:extLst>
          </p:cNvPr>
          <p:cNvSpPr>
            <a:spLocks noGrp="1"/>
          </p:cNvSpPr>
          <p:nvPr/>
        </p:nvSpPr>
        <p:spPr>
          <a:xfrm>
            <a:off x="72009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42B881D-35DB-4937-B124-1F38270DF2C4}"/>
              </a:ext>
            </a:extLst>
          </p:cNvPr>
          <p:cNvSpPr>
            <a:spLocks noGrp="1"/>
          </p:cNvSpPr>
          <p:nvPr/>
        </p:nvSpPr>
        <p:spPr>
          <a:xfrm>
            <a:off x="72009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署名検証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A521C60-5A46-40A3-893D-926DE1F7C314}"/>
              </a:ext>
            </a:extLst>
          </p:cNvPr>
          <p:cNvSpPr>
            <a:spLocks noGrp="1"/>
          </p:cNvSpPr>
          <p:nvPr/>
        </p:nvSpPr>
        <p:spPr>
          <a:xfrm>
            <a:off x="72009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 / origin / RP ID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UP・UV・公開鍵</a:t>
            </a:r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01E20005-F774-4139-8002-433AC4F2D78F}"/>
              </a:ext>
            </a:extLst>
          </p:cNvPr>
          <p:cNvSpPr>
            <a:spLocks noGrp="1"/>
          </p:cNvSpPr>
          <p:nvPr/>
        </p:nvSpPr>
        <p:spPr>
          <a:xfrm>
            <a:off x="9372600" y="2266950"/>
            <a:ext cx="704850" cy="7048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A606C6A-14C1-4F59-A23C-440E2CC3A9FC}"/>
              </a:ext>
            </a:extLst>
          </p:cNvPr>
          <p:cNvSpPr>
            <a:spLocks noGrp="1"/>
          </p:cNvSpPr>
          <p:nvPr/>
        </p:nvSpPr>
        <p:spPr>
          <a:xfrm>
            <a:off x="9372600" y="2286000"/>
            <a:ext cx="704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4CCBB75-689D-40CA-B07E-9B5EF9B96215}"/>
              </a:ext>
            </a:extLst>
          </p:cNvPr>
          <p:cNvSpPr>
            <a:spLocks noGrp="1"/>
          </p:cNvSpPr>
          <p:nvPr/>
        </p:nvSpPr>
        <p:spPr>
          <a:xfrm>
            <a:off x="9372600" y="3219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セッション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14CB4B8-6DF9-4142-A9AD-41DF07C1A51D}"/>
              </a:ext>
            </a:extLst>
          </p:cNvPr>
          <p:cNvSpPr>
            <a:spLocks noGrp="1"/>
          </p:cNvSpPr>
          <p:nvPr/>
        </p:nvSpPr>
        <p:spPr>
          <a:xfrm>
            <a:off x="9372600" y="367665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全検証に成功後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ログイン状態を発行</a:t>
            </a:r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F370C98F-1F80-46F7-97F5-2A0F95737E37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1009650"/>
          </a:xfrm>
          <a:prstGeom prst="roundRect">
            <a:avLst>
              <a:gd name="adj" fmla="val 7547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3908079-28F7-451E-AAEA-39201C17C422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証明すること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B1C262D-3C06-4E71-B3FF-F23F91FC5058}"/>
              </a:ext>
            </a:extLst>
          </p:cNvPr>
          <p:cNvSpPr>
            <a:spLocks noGrp="1"/>
          </p:cNvSpPr>
          <p:nvPr/>
        </p:nvSpPr>
        <p:spPr>
          <a:xfrm>
            <a:off x="2571750" y="504825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今回の要求に対し、期待したRP向けの登録済み秘密鍵で署名した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DCE75A7-EB7C-4E56-B90D-F37FFC764648}"/>
              </a:ext>
            </a:extLst>
          </p:cNvPr>
          <p:cNvSpPr>
            <a:spLocks noGrp="1"/>
          </p:cNvSpPr>
          <p:nvPr/>
        </p:nvSpPr>
        <p:spPr>
          <a:xfrm>
            <a:off x="2571750" y="5467350"/>
            <a:ext cx="809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生体情報ではなく、秘密鍵を使用できる正当な利用者であることを示す。</a:t>
            </a:r>
          </a:p>
        </p:txBody>
      </p:sp>
    </p:spTree>
    <p:extLst>
      <p:ext uri="{BB962C8B-B14F-4D97-AF65-F5344CB8AC3E}">
        <p14:creationId xmlns:p14="http://schemas.microsoft.com/office/powerpoint/2010/main" val="400914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3F6E71B-F628-4B4B-96FA-3C27077ECF85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802300C-CBC0-48ED-A36E-12A7551494A9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10 / SIGNED DATA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91B83DD-0F68-4E45-99D2-30E40C048DE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署名対象はchallenge単体ではなく、2つのデータの連結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4781495-8209-4465-A957-D292E240A85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8B0315-A239-4ED0-800A-CB68A00E2049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2B5E5E58-B419-4D75-89F4-065DD5FDE9AF}"/>
              </a:ext>
            </a:extLst>
          </p:cNvPr>
          <p:cNvSpPr>
            <a:spLocks noGrp="1"/>
          </p:cNvSpPr>
          <p:nvPr/>
        </p:nvSpPr>
        <p:spPr>
          <a:xfrm>
            <a:off x="1809750" y="1600200"/>
            <a:ext cx="8572500" cy="781050"/>
          </a:xfrm>
          <a:prstGeom prst="roundRect">
            <a:avLst>
              <a:gd name="adj" fmla="val 9756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B5BCBCF-E7DD-4411-B724-687D76AE136A}"/>
              </a:ext>
            </a:extLst>
          </p:cNvPr>
          <p:cNvSpPr>
            <a:spLocks noGrp="1"/>
          </p:cNvSpPr>
          <p:nvPr/>
        </p:nvSpPr>
        <p:spPr>
          <a:xfrm>
            <a:off x="2000250" y="17335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7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authenticatorData  ||  SHA-256(clientDataJSON)</a:t>
            </a: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5A9899E8-CED2-44D1-A511-F844685EC8B8}"/>
              </a:ext>
            </a:extLst>
          </p:cNvPr>
          <p:cNvSpPr>
            <a:spLocks noGrp="1"/>
          </p:cNvSpPr>
          <p:nvPr/>
        </p:nvSpPr>
        <p:spPr>
          <a:xfrm>
            <a:off x="4705350" y="3448050"/>
            <a:ext cx="76200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51FA5A1-7E27-46D7-A97A-23B7C98836EC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authenticatorData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3F03EE4B-E301-41B9-BEB5-7ECB2A1B1E2B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95250" cy="952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E1B3923-0DFE-45EF-9238-5AD510A17319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F91811F-E454-4291-BDEA-421DBFC6AABB}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rpIdHash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6C4783CC-77C3-4B87-8BD6-F4041454751A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95250" cy="952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2FB95A6-06B1-40DF-B28B-026A6B4488C8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1981AF1-8C20-46FB-B144-9FE14335F9B0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UP / UVフラグ</a:t>
            </a:r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A20E90CC-F608-45EB-B1B3-9733BAE7F49D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95250" cy="952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CE3816D-6EC6-4F2C-B116-50BE84D884AE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948A558-0883-46E1-A14C-13FAE4EC63C0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signCount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E7279D8-32F5-4A3D-80D3-3F283DAC2F2A}"/>
              </a:ext>
            </a:extLst>
          </p:cNvPr>
          <p:cNvSpPr>
            <a:spLocks noGrp="1"/>
          </p:cNvSpPr>
          <p:nvPr/>
        </p:nvSpPr>
        <p:spPr>
          <a:xfrm>
            <a:off x="6172200" y="28765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clientDataJSON</a:t>
            </a:r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87ED6838-E648-4DA5-9A88-81D668EA783F}"/>
              </a:ext>
            </a:extLst>
          </p:cNvPr>
          <p:cNvSpPr>
            <a:spLocks noGrp="1"/>
          </p:cNvSpPr>
          <p:nvPr/>
        </p:nvSpPr>
        <p:spPr>
          <a:xfrm>
            <a:off x="6172200" y="3524250"/>
            <a:ext cx="95250" cy="952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17FF88F-7F04-4215-BE97-E88B634FEB97}"/>
              </a:ext>
            </a:extLst>
          </p:cNvPr>
          <p:cNvSpPr>
            <a:spLocks noGrp="1"/>
          </p:cNvSpPr>
          <p:nvPr/>
        </p:nvSpPr>
        <p:spPr>
          <a:xfrm>
            <a:off x="6172200" y="354330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766301D-E7F2-42DC-915A-520F705E7907}"/>
              </a:ext>
            </a:extLst>
          </p:cNvPr>
          <p:cNvSpPr>
            <a:spLocks noGrp="1"/>
          </p:cNvSpPr>
          <p:nvPr/>
        </p:nvSpPr>
        <p:spPr>
          <a:xfrm>
            <a:off x="6400800" y="344805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type</a:t>
            </a: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E2F5CC4E-3B60-40F9-A5CD-7698A80C1A59}"/>
              </a:ext>
            </a:extLst>
          </p:cNvPr>
          <p:cNvSpPr>
            <a:spLocks noGrp="1"/>
          </p:cNvSpPr>
          <p:nvPr/>
        </p:nvSpPr>
        <p:spPr>
          <a:xfrm>
            <a:off x="6172200" y="4076700"/>
            <a:ext cx="95250" cy="952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BECB88D-158E-4869-BE78-72ABD1B918F8}"/>
              </a:ext>
            </a:extLst>
          </p:cNvPr>
          <p:cNvSpPr>
            <a:spLocks noGrp="1"/>
          </p:cNvSpPr>
          <p:nvPr/>
        </p:nvSpPr>
        <p:spPr>
          <a:xfrm>
            <a:off x="6172200" y="409575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D24002B-69E0-4438-B4E2-631B9EC3D9AD}"/>
              </a:ext>
            </a:extLst>
          </p:cNvPr>
          <p:cNvSpPr>
            <a:spLocks noGrp="1"/>
          </p:cNvSpPr>
          <p:nvPr/>
        </p:nvSpPr>
        <p:spPr>
          <a:xfrm>
            <a:off x="6400800" y="400050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26" name="円/楕円 25">
            <a:extLst>
              <a:ext uri="{FF2B5EF4-FFF2-40B4-BE49-F238E27FC236}">
                <a16:creationId xmlns:a16="http://schemas.microsoft.com/office/drawing/2014/main" id="{962E99E4-DAFF-4D9B-855B-F221DF79FF17}"/>
              </a:ext>
            </a:extLst>
          </p:cNvPr>
          <p:cNvSpPr>
            <a:spLocks noGrp="1"/>
          </p:cNvSpPr>
          <p:nvPr/>
        </p:nvSpPr>
        <p:spPr>
          <a:xfrm>
            <a:off x="6172200" y="4629150"/>
            <a:ext cx="95250" cy="952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E03A7B3-27CC-4061-AA93-40B7C352AAB0}"/>
              </a:ext>
            </a:extLst>
          </p:cNvPr>
          <p:cNvSpPr>
            <a:spLocks noGrp="1"/>
          </p:cNvSpPr>
          <p:nvPr/>
        </p:nvSpPr>
        <p:spPr>
          <a:xfrm>
            <a:off x="6172200" y="464820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5D4F2D-91A8-42C0-9FE6-AD617D0B649B}"/>
              </a:ext>
            </a:extLst>
          </p:cNvPr>
          <p:cNvSpPr>
            <a:spLocks noGrp="1"/>
          </p:cNvSpPr>
          <p:nvPr/>
        </p:nvSpPr>
        <p:spPr>
          <a:xfrm>
            <a:off x="6400800" y="455295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origin</a:t>
            </a:r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73D70DC6-50A5-41D7-85A4-0AAA52966738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820400" cy="666750"/>
          </a:xfrm>
          <a:prstGeom prst="roundRect">
            <a:avLst>
              <a:gd name="adj" fmla="val 11429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2EE3F43-0990-4BA9-BD80-D9BBA351E6F8}"/>
              </a:ext>
            </a:extLst>
          </p:cNvPr>
          <p:cNvSpPr>
            <a:spLocks noGrp="1"/>
          </p:cNvSpPr>
          <p:nvPr/>
        </p:nvSpPr>
        <p:spPr>
          <a:xfrm>
            <a:off x="914400" y="54578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RPが確認できること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9983C83-CEB5-45F6-9776-8ADCF52D98AC}"/>
              </a:ext>
            </a:extLst>
          </p:cNvPr>
          <p:cNvSpPr>
            <a:spLocks noGrp="1"/>
          </p:cNvSpPr>
          <p:nvPr/>
        </p:nvSpPr>
        <p:spPr>
          <a:xfrm>
            <a:off x="2857500" y="542925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今回のchallenge  /  期待したorigin・RP ID  /  ユーザー操作・本人確認  /  秘密鍵の所持</a:t>
            </a:r>
          </a:p>
        </p:txBody>
      </p:sp>
    </p:spTree>
    <p:extLst>
      <p:ext uri="{BB962C8B-B14F-4D97-AF65-F5344CB8AC3E}">
        <p14:creationId xmlns:p14="http://schemas.microsoft.com/office/powerpoint/2010/main" val="1259409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FF8FA54-7180-4A05-90EB-50F78CF5C606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4AF5F2C-0238-4C18-BED6-6C36D1F1E696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11 / PHISHING RESISTANCE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C88584-244A-4BBD-9DF9-61284BD2912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資格情報はRP IDに紐づくため、別ドメインでは使えない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07A3DBB-0BA9-4B06-9829-A1E45B11F3F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D32C8F-818F-408E-B3B3-52B56B09AF09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0B930FC-1627-4A6B-81DF-370DBC25398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認証器のスコープ制御と、サーバー側のorigin検証が組み合わさる。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A78BC672-B2FB-4527-BFCA-6813DAB1B453}"/>
              </a:ext>
            </a:extLst>
          </p:cNvPr>
          <p:cNvSpPr>
            <a:spLocks noGrp="1"/>
          </p:cNvSpPr>
          <p:nvPr/>
        </p:nvSpPr>
        <p:spPr>
          <a:xfrm>
            <a:off x="3143250" y="2571750"/>
            <a:ext cx="876300" cy="228600"/>
          </a:xfrm>
          <a:prstGeom prst="righ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BD64CF05-7299-49D1-A453-0760E1CDE655}"/>
              </a:ext>
            </a:extLst>
          </p:cNvPr>
          <p:cNvSpPr>
            <a:spLocks noGrp="1"/>
          </p:cNvSpPr>
          <p:nvPr/>
        </p:nvSpPr>
        <p:spPr>
          <a:xfrm>
            <a:off x="3143250" y="4476750"/>
            <a:ext cx="876300" cy="228600"/>
          </a:xfrm>
          <a:prstGeom prst="rightArrow">
            <a:avLst/>
          </a:prstGeom>
          <a:solidFill>
            <a:srgbClr val="C94A4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75E6C13E-07A9-4A54-92E5-FB8DFE63B2AC}"/>
              </a:ext>
            </a:extLst>
          </p:cNvPr>
          <p:cNvSpPr>
            <a:spLocks noGrp="1"/>
          </p:cNvSpPr>
          <p:nvPr/>
        </p:nvSpPr>
        <p:spPr>
          <a:xfrm>
            <a:off x="7105650" y="2571750"/>
            <a:ext cx="876300" cy="228600"/>
          </a:xfrm>
          <a:prstGeom prst="righ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879E09E-4107-4FE0-ACA8-2B834B1451B3}"/>
              </a:ext>
            </a:extLst>
          </p:cNvPr>
          <p:cNvSpPr>
            <a:spLocks noGrp="1"/>
          </p:cNvSpPr>
          <p:nvPr/>
        </p:nvSpPr>
        <p:spPr>
          <a:xfrm>
            <a:off x="5772150" y="3981450"/>
            <a:ext cx="57150" cy="1409700"/>
          </a:xfrm>
          <a:prstGeom prst="rect">
            <a:avLst/>
          </a:prstGeom>
          <a:solidFill>
            <a:srgbClr val="C94A4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C58EB81-D421-4157-BF8D-3D473B70A43D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正規サイト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920B5FF-BA23-4227-B383-E9C51E4F648A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login.example.com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B11EB5C-46D4-4512-A386-56C22F852FD0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RP ID = example.com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D870F9A2-5DA5-4DE9-87C3-77CF6B6CEF65}"/>
              </a:ext>
            </a:extLst>
          </p:cNvPr>
          <p:cNvSpPr>
            <a:spLocks noGrp="1"/>
          </p:cNvSpPr>
          <p:nvPr/>
        </p:nvSpPr>
        <p:spPr>
          <a:xfrm>
            <a:off x="4038600" y="2019300"/>
            <a:ext cx="3048000" cy="1257300"/>
          </a:xfrm>
          <a:prstGeom prst="roundRect">
            <a:avLst>
              <a:gd name="adj" fmla="val 6061"/>
            </a:avLst>
          </a:prstGeom>
          <a:solidFill>
            <a:srgbClr val="DFF3EF"/>
          </a:solidFill>
          <a:ln w="19050">
            <a:solidFill>
              <a:srgbClr val="0F9D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9C3CDF2-6179-4F0E-849B-5E0882469A04}"/>
              </a:ext>
            </a:extLst>
          </p:cNvPr>
          <p:cNvSpPr>
            <a:spLocks noGrp="1"/>
          </p:cNvSpPr>
          <p:nvPr/>
        </p:nvSpPr>
        <p:spPr>
          <a:xfrm>
            <a:off x="4324350" y="2228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EBC1A59-C1C6-43BE-923E-7144017749FD}"/>
              </a:ext>
            </a:extLst>
          </p:cNvPr>
          <p:cNvSpPr>
            <a:spLocks noGrp="1"/>
          </p:cNvSpPr>
          <p:nvPr/>
        </p:nvSpPr>
        <p:spPr>
          <a:xfrm>
            <a:off x="4324350" y="266700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 IDに対応する資格情報を選び</a:t>
            </a:r>
          </a:p>
          <a:p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秘密鍵で署名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890027C9-A929-4D95-BC6B-3795D3AA3D0B}"/>
              </a:ext>
            </a:extLst>
          </p:cNvPr>
          <p:cNvSpPr>
            <a:spLocks noGrp="1"/>
          </p:cNvSpPr>
          <p:nvPr/>
        </p:nvSpPr>
        <p:spPr>
          <a:xfrm>
            <a:off x="8001000" y="2019300"/>
            <a:ext cx="3143250" cy="1257300"/>
          </a:xfrm>
          <a:prstGeom prst="roundRect">
            <a:avLst>
              <a:gd name="adj" fmla="val 6061"/>
            </a:avLst>
          </a:prstGeom>
          <a:solidFill>
            <a:srgbClr val="E6EDFC"/>
          </a:solidFill>
          <a:ln w="19050">
            <a:solidFill>
              <a:srgbClr val="3569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982032-46A5-45BC-ACAC-9F553536C857}"/>
              </a:ext>
            </a:extLst>
          </p:cNvPr>
          <p:cNvSpPr>
            <a:spLocks noGrp="1"/>
          </p:cNvSpPr>
          <p:nvPr/>
        </p:nvSpPr>
        <p:spPr>
          <a:xfrm>
            <a:off x="8286750" y="22288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10DB57C-82FD-4483-9D52-88CF5482D6C6}"/>
              </a:ext>
            </a:extLst>
          </p:cNvPr>
          <p:cNvSpPr>
            <a:spLocks noGrp="1"/>
          </p:cNvSpPr>
          <p:nvPr/>
        </p:nvSpPr>
        <p:spPr>
          <a:xfrm>
            <a:off x="8286750" y="26670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origin・RP ID・署名を検証</a:t>
            </a:r>
          </a:p>
          <a:p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→ 認証成功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2DD8031-2B93-450F-88FB-92DA54BDE948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偽サイト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B1F3E1A-CDD3-4CAD-B5E5-D62CBBE6E4E9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login-example.attacker.test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50AD31D-C556-43E8-B516-497FA85766AD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RP IDが一致しない</a:t>
            </a: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9F592304-1452-4BFD-A04E-5E89D1E94AA6}"/>
              </a:ext>
            </a:extLst>
          </p:cNvPr>
          <p:cNvSpPr>
            <a:spLocks noGrp="1"/>
          </p:cNvSpPr>
          <p:nvPr/>
        </p:nvSpPr>
        <p:spPr>
          <a:xfrm>
            <a:off x="5067300" y="4305300"/>
            <a:ext cx="781050" cy="781050"/>
          </a:xfrm>
          <a:prstGeom prst="ellipse">
            <a:avLst/>
          </a:prstGeom>
          <a:solidFill>
            <a:srgbClr val="C94A4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0669674-0D5E-4C1C-9C0C-06071BAE899A}"/>
              </a:ext>
            </a:extLst>
          </p:cNvPr>
          <p:cNvSpPr>
            <a:spLocks noGrp="1"/>
          </p:cNvSpPr>
          <p:nvPr/>
        </p:nvSpPr>
        <p:spPr>
          <a:xfrm>
            <a:off x="5067300" y="4324350"/>
            <a:ext cx="781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FF47C10-2AF6-4760-A0FA-D07668BBD5CA}"/>
              </a:ext>
            </a:extLst>
          </p:cNvPr>
          <p:cNvSpPr>
            <a:spLocks noGrp="1"/>
          </p:cNvSpPr>
          <p:nvPr/>
        </p:nvSpPr>
        <p:spPr>
          <a:xfrm>
            <a:off x="6191250" y="43243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対応する資格情報を利用できない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CB039DA-DC71-4A27-A2E5-859BAE869839}"/>
              </a:ext>
            </a:extLst>
          </p:cNvPr>
          <p:cNvSpPr>
            <a:spLocks noGrp="1"/>
          </p:cNvSpPr>
          <p:nvPr/>
        </p:nvSpPr>
        <p:spPr>
          <a:xfrm>
            <a:off x="6191250" y="48387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見た目を誤認しても、認証器とRPがドメインを検証する。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80703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DE9700B-6BE6-4072-B4F5-106655045F5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95B702-8E7A-43EF-8DB3-1F9380BF94FA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12 / REVIEW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8027309-4968-4D49-9ECA-3E7699E2CCB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この7点を説明できれば、実装前の全体像はつかめている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C6BA4E-113F-4600-A69B-1E21A1D447D4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A4CCD40-E46C-452A-9A53-1BDE4C81A4F4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CE873824-4EE9-4897-BBFB-543BB79C0DFB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85750" cy="285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F5522C-84E2-4DBE-891C-6EC761252EB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304F64A-F4D7-4919-8ACF-4AA947CDEA6F}"/>
              </a:ext>
            </a:extLst>
          </p:cNvPr>
          <p:cNvSpPr>
            <a:spLocks noGrp="1"/>
          </p:cNvSpPr>
          <p:nvPr/>
        </p:nvSpPr>
        <p:spPr>
          <a:xfrm>
            <a:off x="1143000" y="17716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公開鍵・秘密鍵・署名でパスキーを説明できる</a:t>
            </a:r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E44BCA9A-72AE-407D-B36B-F17950CBF700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85750" cy="285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37ECF00-B689-4BB8-9867-FB66A44E8332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0CD8776-278D-4DC7-9B7E-EA74F39FE388}"/>
              </a:ext>
            </a:extLst>
          </p:cNvPr>
          <p:cNvSpPr>
            <a:spLocks noGrp="1"/>
          </p:cNvSpPr>
          <p:nvPr/>
        </p:nvSpPr>
        <p:spPr>
          <a:xfrm>
            <a:off x="1143000" y="24574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登録と認証の違いを説明できる</a:t>
            </a:r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753332A6-F8E0-4F35-997B-898B5AC54543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85750" cy="285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0F3FEA1-14F4-469E-84F7-96B94C1F42E1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BFD7288-BFCE-4BD6-A1D5-309028818446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create()とget()の役割を区別できる</a:t>
            </a:r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878E80B2-F088-4D70-BD4C-1722F37AE687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285750" cy="285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2AB10C0-72A1-445F-BE60-3C709ED81E9C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8AD8D51-E2F5-4131-8C85-7D1D592D132A}"/>
              </a:ext>
            </a:extLst>
          </p:cNvPr>
          <p:cNvSpPr>
            <a:spLocks noGrp="1"/>
          </p:cNvSpPr>
          <p:nvPr/>
        </p:nvSpPr>
        <p:spPr>
          <a:xfrm>
            <a:off x="1143000" y="38290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RP・ブラウザ・認証器の責務を説明できる</a:t>
            </a:r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85BFF8D5-85C7-46C3-9F2F-ABD016406F92}"/>
              </a:ext>
            </a:extLst>
          </p:cNvPr>
          <p:cNvSpPr>
            <a:spLocks noGrp="1"/>
          </p:cNvSpPr>
          <p:nvPr/>
        </p:nvSpPr>
        <p:spPr>
          <a:xfrm>
            <a:off x="6305550" y="1790700"/>
            <a:ext cx="285750" cy="285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1281E66-22BC-4F88-8B8E-EF49686E845F}"/>
              </a:ext>
            </a:extLst>
          </p:cNvPr>
          <p:cNvSpPr>
            <a:spLocks noGrp="1"/>
          </p:cNvSpPr>
          <p:nvPr/>
        </p:nvSpPr>
        <p:spPr>
          <a:xfrm>
            <a:off x="6305550" y="18097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8C2A6B2-E583-4A22-BB31-D145E1307DAB}"/>
              </a:ext>
            </a:extLst>
          </p:cNvPr>
          <p:cNvSpPr>
            <a:spLocks noGrp="1"/>
          </p:cNvSpPr>
          <p:nvPr/>
        </p:nvSpPr>
        <p:spPr>
          <a:xfrm>
            <a:off x="6762750" y="17716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生体情報がRPへ送られない理由を説明できる</a:t>
            </a:r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7413936B-F4DC-4FE4-B1F0-5219B0288524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285750" cy="285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03F8CAB-2F40-454D-965E-C057C8FE2531}"/>
              </a:ext>
            </a:extLst>
          </p:cNvPr>
          <p:cNvSpPr>
            <a:spLocks noGrp="1"/>
          </p:cNvSpPr>
          <p:nvPr/>
        </p:nvSpPr>
        <p:spPr>
          <a:xfrm>
            <a:off x="6305550" y="24955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92BEA29-5F42-4EC8-A69A-38D03663E667}"/>
              </a:ext>
            </a:extLst>
          </p:cNvPr>
          <p:cNvSpPr>
            <a:spLocks noGrp="1"/>
          </p:cNvSpPr>
          <p:nvPr/>
        </p:nvSpPr>
        <p:spPr>
          <a:xfrm>
            <a:off x="6762750" y="24574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 IDとoriginでフィッシング耐性を説明できる</a:t>
            </a:r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3A55B3A6-34F8-463B-A832-7E285D8E450B}"/>
              </a:ext>
            </a:extLst>
          </p:cNvPr>
          <p:cNvSpPr>
            <a:spLocks noGrp="1"/>
          </p:cNvSpPr>
          <p:nvPr/>
        </p:nvSpPr>
        <p:spPr>
          <a:xfrm>
            <a:off x="6305550" y="3162300"/>
            <a:ext cx="285750" cy="285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62D3882-D38F-4228-AE14-ED2677F4A27A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EFDCA32-8E05-4AC0-98E3-E1AC80103234}"/>
              </a:ext>
            </a:extLst>
          </p:cNvPr>
          <p:cNvSpPr>
            <a:spLocks noGrp="1"/>
          </p:cNvSpPr>
          <p:nvPr/>
        </p:nvSpPr>
        <p:spPr>
          <a:xfrm>
            <a:off x="6762750" y="31432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サーバーに保存する情報を3つ挙げられる</a:t>
            </a: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0ACC2BA2-7E38-44D8-B13B-09B851F4960B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10820400" cy="1143000"/>
          </a:xfrm>
          <a:prstGeom prst="roundRect">
            <a:avLst>
              <a:gd name="adj" fmla="val 6667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90A4D2E-145B-4442-95CF-C1FC6BD4C870}"/>
              </a:ext>
            </a:extLst>
          </p:cNvPr>
          <p:cNvSpPr>
            <a:spLocks noGrp="1"/>
          </p:cNvSpPr>
          <p:nvPr/>
        </p:nvSpPr>
        <p:spPr>
          <a:xfrm>
            <a:off x="914400" y="51435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一文でまとめる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CF87D4A-DE5E-4FD0-89BF-ABC9F4B5589A}"/>
              </a:ext>
            </a:extLst>
          </p:cNvPr>
          <p:cNvSpPr>
            <a:spLocks noGrp="1"/>
          </p:cNvSpPr>
          <p:nvPr/>
        </p:nvSpPr>
        <p:spPr>
          <a:xfrm>
            <a:off x="2647950" y="51054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認証器が秘密鍵で署名し、RPが公開鍵で検証する。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36651E6-8402-4AB4-8205-3F4F34C0B3E9}"/>
              </a:ext>
            </a:extLst>
          </p:cNvPr>
          <p:cNvSpPr>
            <a:spLocks noGrp="1"/>
          </p:cNvSpPr>
          <p:nvPr/>
        </p:nvSpPr>
        <p:spPr>
          <a:xfrm>
            <a:off x="2647950" y="5543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rPr>
              <a:t>challenge・origin・RP IDを検証することで、今回の要求と正しいサービスに結び付ける。</a:t>
            </a:r>
          </a:p>
        </p:txBody>
      </p:sp>
    </p:spTree>
    <p:extLst>
      <p:ext uri="{BB962C8B-B14F-4D97-AF65-F5344CB8AC3E}">
        <p14:creationId xmlns:p14="http://schemas.microsoft.com/office/powerpoint/2010/main" val="4320995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1301</Words>
  <Application>Microsoft Macintosh PowerPoint</Application>
  <DocSecurity>0</DocSecurity>
  <PresentationFormat>ワイド画面</PresentationFormat>
  <Paragraphs>302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Hiragino Sans</vt:lpstr>
      <vt:lpstr>Calibri</vt:lpstr>
      <vt:lpstr>Menlo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Rikuto Kida - 木田 陸渡</cp:lastModifiedBy>
  <cp:revision>1</cp:revision>
  <dcterms:created xsi:type="dcterms:W3CDTF">2026-08-06T13:48:42Z</dcterms:created>
  <dcterms:modified xsi:type="dcterms:W3CDTF">2026-08-06T23:48:22Z</dcterms:modified>
</cp:coreProperties>
</file>